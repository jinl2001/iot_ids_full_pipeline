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A8ED157-B24D-4143-8661-92E45FDAB6E2}">
  <a:tblStyle styleId="{EA8ED157-B24D-4143-8661-92E45FDAB6E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" name="Google Shape;2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" name="Google Shape;4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" name="Google Shape;7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" name="Google Shape;21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6" name="Google Shape;22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3" name="Google Shape;263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00D4FF">
              <a:alpha val="7843"/>
            </a:srgbClr>
          </a:solidFill>
          <a:ln cap="flat" cmpd="sng" w="9525">
            <a:solidFill>
              <a:srgbClr val="00D4FF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7132320" y="-457200"/>
            <a:ext cx="2743200" cy="2743200"/>
          </a:xfrm>
          <a:prstGeom prst="ellipse">
            <a:avLst/>
          </a:prstGeom>
          <a:solidFill>
            <a:srgbClr val="00D4FF">
              <a:alpha val="12941"/>
            </a:srgbClr>
          </a:solidFill>
          <a:ln cap="flat" cmpd="sng" w="12700">
            <a:solidFill>
              <a:srgbClr val="00D4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502920" y="11887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FINAL PROJECT  ·  NEURAL NETWORKS COURSE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502920" y="1572768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IoT Intrusion Detection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502920" y="233172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Systems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502920" y="3218688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Detecting IoT botnet attacks using ML on network flow statistics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502920" y="3840480"/>
            <a:ext cx="4389120" cy="50292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594360" y="3913632"/>
            <a:ext cx="4206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Jinhong Lin  ·  Elton Chang  ·  Shiwei Jiang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502920" y="4480560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Dataset: BoTNeTIoT-L01 (Kaggle)  ·  April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01 — PROBLEM STATEMENT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What Are We Trying to Solve?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365760" y="1417320"/>
            <a:ext cx="4114800" cy="338328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365760" y="1417320"/>
            <a:ext cx="4114800" cy="36576"/>
          </a:xfrm>
          <a:prstGeom prst="rect">
            <a:avLst/>
          </a:prstGeom>
          <a:solidFill>
            <a:srgbClr val="FF4D6D"/>
          </a:solidFill>
          <a:ln cap="flat" cmpd="sng" w="12700">
            <a:solidFill>
              <a:srgbClr val="FF4D6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548640" y="1572768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D6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4D6D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548640" y="1965960"/>
            <a:ext cx="3749040" cy="2651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IoT devices are increasingly targeted by botnets like Mirai and Gafgyt, which can compromise thousands of devices and launch large-scale DDoS attacks.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The challenge: distinguish malicious botnet traffic from normal IoT behaviour in real time — before compromised devices can be weaponised.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4663440" y="1417320"/>
            <a:ext cx="4114800" cy="338328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4663440" y="1417320"/>
            <a:ext cx="4114800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4846320" y="1572768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Our Approach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4846320" y="1965960"/>
            <a:ext cx="3657600" cy="2651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Train 4 ML models on 23 engineered network flow statistics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Binary detection: attack (0) vs normal (1)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Multiclass: identify botnet family &amp; attack subtype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Evaluate feature importance, device generalization, and inference latency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02 — DATASET &amp; EDA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5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BoTNeTIoT-L01 Dataset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365760" y="1417320"/>
            <a:ext cx="1572768" cy="114300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5"/>
          <p:cNvSpPr/>
          <p:nvPr/>
        </p:nvSpPr>
        <p:spPr>
          <a:xfrm>
            <a:off x="365760" y="1417320"/>
            <a:ext cx="1572768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5"/>
          <p:cNvSpPr/>
          <p:nvPr/>
        </p:nvSpPr>
        <p:spPr>
          <a:xfrm>
            <a:off x="475488" y="1618488"/>
            <a:ext cx="13533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300K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457200" y="2075688"/>
            <a:ext cx="13898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Dataset 1 rows (sample)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2066544" y="1417320"/>
            <a:ext cx="1572768" cy="114300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5"/>
          <p:cNvSpPr/>
          <p:nvPr/>
        </p:nvSpPr>
        <p:spPr>
          <a:xfrm>
            <a:off x="2066544" y="1417320"/>
            <a:ext cx="1572768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5"/>
          <p:cNvSpPr/>
          <p:nvPr/>
        </p:nvSpPr>
        <p:spPr>
          <a:xfrm>
            <a:off x="2176272" y="1618488"/>
            <a:ext cx="13533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400K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2157984" y="2075688"/>
            <a:ext cx="13898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Dataset 2 rows (sample)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3767328" y="1417320"/>
            <a:ext cx="1572768" cy="114300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5"/>
          <p:cNvSpPr/>
          <p:nvPr/>
        </p:nvSpPr>
        <p:spPr>
          <a:xfrm>
            <a:off x="3767328" y="1417320"/>
            <a:ext cx="1572768" cy="36576"/>
          </a:xfrm>
          <a:prstGeom prst="rect">
            <a:avLst/>
          </a:prstGeom>
          <a:solidFill>
            <a:srgbClr val="A78BFA"/>
          </a:solidFill>
          <a:ln cap="flat" cmpd="sng" w="12700">
            <a:solidFill>
              <a:srgbClr val="A78B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877056" y="1618488"/>
            <a:ext cx="13533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3858768" y="2075688"/>
            <a:ext cx="13898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Features used (4 pruned)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5468112" y="1417320"/>
            <a:ext cx="1572768" cy="114300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5"/>
          <p:cNvSpPr/>
          <p:nvPr/>
        </p:nvSpPr>
        <p:spPr>
          <a:xfrm>
            <a:off x="5468112" y="1417320"/>
            <a:ext cx="1572768" cy="36576"/>
          </a:xfrm>
          <a:prstGeom prst="rect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5"/>
          <p:cNvSpPr/>
          <p:nvPr/>
        </p:nvSpPr>
        <p:spPr>
          <a:xfrm>
            <a:off x="5577840" y="1618488"/>
            <a:ext cx="13533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5559552" y="2075688"/>
            <a:ext cx="13898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IoT Device types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7168896" y="1417320"/>
            <a:ext cx="1572768" cy="114300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7168896" y="1417320"/>
            <a:ext cx="1572768" cy="36576"/>
          </a:xfrm>
          <a:prstGeom prst="rect">
            <a:avLst/>
          </a:prstGeom>
          <a:solidFill>
            <a:srgbClr val="FF4D6D"/>
          </a:solidFill>
          <a:ln cap="flat" cmpd="sng" w="12700">
            <a:solidFill>
              <a:srgbClr val="FF4D6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7278624" y="1618488"/>
            <a:ext cx="13533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4D6D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4D6D"/>
                </a:solidFill>
                <a:latin typeface="Calibri"/>
                <a:ea typeface="Calibri"/>
                <a:cs typeface="Calibri"/>
                <a:sym typeface="Calibri"/>
              </a:rPr>
              <a:t>78.8%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7260336" y="2075688"/>
            <a:ext cx="13898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Attack rate (Dataset 1)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365760" y="2724912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Class Imbalance (Dataset 1 sample)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9" name="Google Shape;6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2999232"/>
            <a:ext cx="3931920" cy="1810512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5"/>
          <p:cNvSpPr/>
          <p:nvPr/>
        </p:nvSpPr>
        <p:spPr>
          <a:xfrm>
            <a:off x="4663440" y="2670048"/>
            <a:ext cx="4114800" cy="219456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4663440" y="2670048"/>
            <a:ext cx="4114800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5"/>
          <p:cNvSpPr/>
          <p:nvPr/>
        </p:nvSpPr>
        <p:spPr>
          <a:xfrm>
            <a:off x="4846320" y="2816352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Key EDA Findings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4846320" y="3127248"/>
            <a:ext cx="374904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0 missing values in both datasets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4 features perfectly correlated (r=1.00) → removed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12 features highly skewed → log1p applied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2 botnet families: Mirai + Gafgyt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9 attack subtypes incl. UDP, TCP, SYN, ACK…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6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03 — PREPROCESSING PIPELINE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6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Cleaning &amp; Preparing the Data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/>
          <p:nvPr/>
        </p:nvSpPr>
        <p:spPr>
          <a:xfrm>
            <a:off x="365760" y="1417320"/>
            <a:ext cx="4160520" cy="141732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6"/>
          <p:cNvSpPr/>
          <p:nvPr/>
        </p:nvSpPr>
        <p:spPr>
          <a:xfrm>
            <a:off x="365760" y="1417320"/>
            <a:ext cx="4160520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6"/>
          <p:cNvSpPr/>
          <p:nvPr/>
        </p:nvSpPr>
        <p:spPr>
          <a:xfrm>
            <a:off x="502920" y="1581912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1024128" y="1581912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Drop Redundant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502920" y="2039112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Remove 4 perfectly correlated features (r=1.00). 23 → 19 features.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4800600" y="1417320"/>
            <a:ext cx="4160520" cy="141732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6"/>
          <p:cNvSpPr/>
          <p:nvPr/>
        </p:nvSpPr>
        <p:spPr>
          <a:xfrm>
            <a:off x="4800600" y="1417320"/>
            <a:ext cx="4160520" cy="36576"/>
          </a:xfrm>
          <a:prstGeom prst="rect">
            <a:avLst/>
          </a:prstGeom>
          <a:solidFill>
            <a:srgbClr val="A78BFA"/>
          </a:solidFill>
          <a:ln cap="flat" cmpd="sng" w="12700">
            <a:solidFill>
              <a:srgbClr val="A78B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6"/>
          <p:cNvSpPr/>
          <p:nvPr/>
        </p:nvSpPr>
        <p:spPr>
          <a:xfrm>
            <a:off x="4937760" y="1581912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/>
          <p:nvPr/>
        </p:nvSpPr>
        <p:spPr>
          <a:xfrm>
            <a:off x="5458968" y="1581912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Log1p Transform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4937760" y="2039112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Apply log1p(|x|) to 12 highly skewed features to normalize distributions.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/>
          <p:nvPr/>
        </p:nvSpPr>
        <p:spPr>
          <a:xfrm>
            <a:off x="365760" y="2971800"/>
            <a:ext cx="4160520" cy="141732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/>
          <p:nvPr/>
        </p:nvSpPr>
        <p:spPr>
          <a:xfrm>
            <a:off x="365760" y="2971800"/>
            <a:ext cx="4160520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6"/>
          <p:cNvSpPr/>
          <p:nvPr/>
        </p:nvSpPr>
        <p:spPr>
          <a:xfrm>
            <a:off x="502920" y="3136392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1024128" y="3136392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Standardize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>
            <a:off x="502920" y="3593592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Fit StandardScaler on training data only. Apply to val + test to prevent data leakage.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6"/>
          <p:cNvSpPr/>
          <p:nvPr/>
        </p:nvSpPr>
        <p:spPr>
          <a:xfrm>
            <a:off x="4800600" y="2971800"/>
            <a:ext cx="4160520" cy="141732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6"/>
          <p:cNvSpPr/>
          <p:nvPr/>
        </p:nvSpPr>
        <p:spPr>
          <a:xfrm>
            <a:off x="4800600" y="2971800"/>
            <a:ext cx="4160520" cy="36576"/>
          </a:xfrm>
          <a:prstGeom prst="rect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6"/>
          <p:cNvSpPr/>
          <p:nvPr/>
        </p:nvSpPr>
        <p:spPr>
          <a:xfrm>
            <a:off x="4937760" y="3136392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5458968" y="3136392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Stratified Split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4937760" y="3593592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70% train / 15% val / 15% test. Stratified by label to preserve class ratios.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1" name="Google Shape;101;p6"/>
          <p:cNvCxnSpPr/>
          <p:nvPr/>
        </p:nvCxnSpPr>
        <p:spPr>
          <a:xfrm>
            <a:off x="1920240" y="2148840"/>
            <a:ext cx="0" cy="228600"/>
          </a:xfrm>
          <a:prstGeom prst="straightConnector1">
            <a:avLst/>
          </a:prstGeom>
          <a:noFill/>
          <a:ln cap="flat" cmpd="sng" w="19050">
            <a:solidFill>
              <a:srgbClr val="1E2D45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2" name="Google Shape;102;p6"/>
          <p:cNvCxnSpPr/>
          <p:nvPr/>
        </p:nvCxnSpPr>
        <p:spPr>
          <a:xfrm>
            <a:off x="6355080" y="2148840"/>
            <a:ext cx="0" cy="228600"/>
          </a:xfrm>
          <a:prstGeom prst="straightConnector1">
            <a:avLst/>
          </a:prstGeom>
          <a:noFill/>
          <a:ln cap="flat" cmpd="sng" w="19050">
            <a:solidFill>
              <a:srgbClr val="1E2D45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" name="Google Shape;103;p6"/>
          <p:cNvCxnSpPr/>
          <p:nvPr/>
        </p:nvCxnSpPr>
        <p:spPr>
          <a:xfrm>
            <a:off x="1920240" y="3703320"/>
            <a:ext cx="0" cy="228600"/>
          </a:xfrm>
          <a:prstGeom prst="straightConnector1">
            <a:avLst/>
          </a:prstGeom>
          <a:noFill/>
          <a:ln cap="flat" cmpd="sng" w="19050">
            <a:solidFill>
              <a:srgbClr val="1E2D45"/>
            </a:solidFill>
            <a:prstDash val="dash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7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04 — BINARY CLASSIFICATION RESULTS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7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Attack vs Normal — All 4 Models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365760" y="1371600"/>
            <a:ext cx="1920240" cy="100584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7"/>
          <p:cNvSpPr/>
          <p:nvPr/>
        </p:nvSpPr>
        <p:spPr>
          <a:xfrm>
            <a:off x="365760" y="1371600"/>
            <a:ext cx="1920240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7"/>
          <p:cNvSpPr/>
          <p:nvPr/>
        </p:nvSpPr>
        <p:spPr>
          <a:xfrm>
            <a:off x="475488" y="1572768"/>
            <a:ext cx="17007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0.9998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457200" y="202996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Best F1-Macro (RF)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2423160" y="1371600"/>
            <a:ext cx="1920240" cy="100584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7"/>
          <p:cNvSpPr/>
          <p:nvPr/>
        </p:nvSpPr>
        <p:spPr>
          <a:xfrm>
            <a:off x="2423160" y="1371600"/>
            <a:ext cx="1920240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7"/>
          <p:cNvSpPr/>
          <p:nvPr/>
        </p:nvSpPr>
        <p:spPr>
          <a:xfrm>
            <a:off x="2532888" y="1572768"/>
            <a:ext cx="17007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1.0000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2514600" y="202996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Best AUC-ROC (RF/HGB/MLP)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4480560" y="1371600"/>
            <a:ext cx="1920240" cy="100584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7"/>
          <p:cNvSpPr/>
          <p:nvPr/>
        </p:nvSpPr>
        <p:spPr>
          <a:xfrm>
            <a:off x="4480560" y="1371600"/>
            <a:ext cx="1920240" cy="36576"/>
          </a:xfrm>
          <a:prstGeom prst="rect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7"/>
          <p:cNvSpPr/>
          <p:nvPr/>
        </p:nvSpPr>
        <p:spPr>
          <a:xfrm>
            <a:off x="4590288" y="1572768"/>
            <a:ext cx="17007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0.58μs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4572000" y="202996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Fastest Latency (LogReg)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6537960" y="1371600"/>
            <a:ext cx="1920240" cy="100584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7"/>
          <p:cNvSpPr/>
          <p:nvPr/>
        </p:nvSpPr>
        <p:spPr>
          <a:xfrm>
            <a:off x="6537960" y="1371600"/>
            <a:ext cx="1920240" cy="36576"/>
          </a:xfrm>
          <a:prstGeom prst="rect">
            <a:avLst/>
          </a:prstGeom>
          <a:solidFill>
            <a:srgbClr val="A78BFA"/>
          </a:solidFill>
          <a:ln cap="flat" cmpd="sng" w="12700">
            <a:solidFill>
              <a:srgbClr val="A78B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7"/>
          <p:cNvSpPr/>
          <p:nvPr/>
        </p:nvSpPr>
        <p:spPr>
          <a:xfrm>
            <a:off x="6647688" y="1572768"/>
            <a:ext cx="17007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5.66μs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7"/>
          <p:cNvSpPr/>
          <p:nvPr/>
        </p:nvSpPr>
        <p:spPr>
          <a:xfrm>
            <a:off x="6629400" y="202996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MLP Latency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7" name="Google Shape;127;p7"/>
          <p:cNvGraphicFramePr/>
          <p:nvPr/>
        </p:nvGraphicFramePr>
        <p:xfrm>
          <a:off x="365760" y="254203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{EA8ED157-B24D-4143-8661-92E45FDAB6E2}</a:tableStyleId>
              </a:tblPr>
              <a:tblGrid>
                <a:gridCol w="1371600"/>
                <a:gridCol w="1508750"/>
                <a:gridCol w="1508750"/>
                <a:gridCol w="1508750"/>
                <a:gridCol w="1508750"/>
                <a:gridCol w="1463050"/>
              </a:tblGrid>
              <a:tr h="466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F1-Attack(0)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F1-Normal(1)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F1-Macro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AUC-ROC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Latency (μs)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</a:tr>
              <a:tr h="466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D4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D4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LogReg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0.9996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0.9984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0.9990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0.9999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0.577 ⚡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  <a:tr h="466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9F43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FF9F4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0.9999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0.9997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0.9998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4D6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FF4D6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45.43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466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78BF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A78BF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HGB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0.9999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0.9996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0.9997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15.34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  <a:tr h="466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4D6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FF4D6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MLP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0.9997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0.9989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0.9993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5.66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8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05 — LATENCY VS ACCURACY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Which Model is Best for Real-Time IDS?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8"/>
          <p:cNvSpPr/>
          <p:nvPr/>
        </p:nvSpPr>
        <p:spPr>
          <a:xfrm>
            <a:off x="365760" y="141732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F1-Macro by Model (test set)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6" name="Google Shape;136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1691640"/>
            <a:ext cx="4023360" cy="233172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8"/>
          <p:cNvSpPr/>
          <p:nvPr/>
        </p:nvSpPr>
        <p:spPr>
          <a:xfrm>
            <a:off x="4754880" y="141732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Inference Latency μs/sample (lower = faster)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8" name="Google Shape;138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54880" y="1691640"/>
            <a:ext cx="4023360" cy="233172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8"/>
          <p:cNvSpPr/>
          <p:nvPr/>
        </p:nvSpPr>
        <p:spPr>
          <a:xfrm>
            <a:off x="365760" y="4187952"/>
            <a:ext cx="8412480" cy="713232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8"/>
          <p:cNvSpPr/>
          <p:nvPr/>
        </p:nvSpPr>
        <p:spPr>
          <a:xfrm>
            <a:off x="365760" y="4187952"/>
            <a:ext cx="8412480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8"/>
          <p:cNvSpPr/>
          <p:nvPr/>
        </p:nvSpPr>
        <p:spPr>
          <a:xfrm>
            <a:off x="548640" y="4315968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★  Recommendation: MLP offers the best balance — F1-Macro 0.9993 at 5.66 μs/sample (8× faster than RF, 0.0005 lower F1). LogReg at 0.58μs is ideal for ultra-low-latency edge deployment.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9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06 — MULTICLASS CLASSIFICATION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9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Attack Family &amp; Subtype Identification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9"/>
          <p:cNvSpPr/>
          <p:nvPr/>
        </p:nvSpPr>
        <p:spPr>
          <a:xfrm>
            <a:off x="365760" y="1417320"/>
            <a:ext cx="4114800" cy="338328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9"/>
          <p:cNvSpPr/>
          <p:nvPr/>
        </p:nvSpPr>
        <p:spPr>
          <a:xfrm>
            <a:off x="365760" y="1417320"/>
            <a:ext cx="4114800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"/>
          <p:cNvSpPr/>
          <p:nvPr/>
        </p:nvSpPr>
        <p:spPr>
          <a:xfrm>
            <a:off x="548640" y="1572768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3-Class: Normal / Mirai / Gafgyt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9"/>
          <p:cNvSpPr/>
          <p:nvPr/>
        </p:nvSpPr>
        <p:spPr>
          <a:xfrm>
            <a:off x="548640" y="205740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Normal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9"/>
          <p:cNvSpPr/>
          <p:nvPr/>
        </p:nvSpPr>
        <p:spPr>
          <a:xfrm>
            <a:off x="1874520" y="2112264"/>
            <a:ext cx="2377440" cy="219456"/>
          </a:xfrm>
          <a:prstGeom prst="rect">
            <a:avLst/>
          </a:prstGeom>
          <a:solidFill>
            <a:srgbClr val="1E2D45"/>
          </a:solidFill>
          <a:ln cap="flat" cmpd="sng" w="12700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"/>
          <p:cNvSpPr/>
          <p:nvPr/>
        </p:nvSpPr>
        <p:spPr>
          <a:xfrm>
            <a:off x="1874520" y="2112264"/>
            <a:ext cx="2377440" cy="21945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"/>
          <p:cNvSpPr/>
          <p:nvPr/>
        </p:nvSpPr>
        <p:spPr>
          <a:xfrm>
            <a:off x="4315968" y="2057400"/>
            <a:ext cx="1005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F1 = 1.000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9"/>
          <p:cNvSpPr/>
          <p:nvPr/>
        </p:nvSpPr>
        <p:spPr>
          <a:xfrm>
            <a:off x="548640" y="2807208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Mirai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9"/>
          <p:cNvSpPr/>
          <p:nvPr/>
        </p:nvSpPr>
        <p:spPr>
          <a:xfrm>
            <a:off x="1874520" y="2862072"/>
            <a:ext cx="2377440" cy="219456"/>
          </a:xfrm>
          <a:prstGeom prst="rect">
            <a:avLst/>
          </a:prstGeom>
          <a:solidFill>
            <a:srgbClr val="1E2D45"/>
          </a:solidFill>
          <a:ln cap="flat" cmpd="sng" w="12700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9"/>
          <p:cNvSpPr/>
          <p:nvPr/>
        </p:nvSpPr>
        <p:spPr>
          <a:xfrm>
            <a:off x="1874520" y="2862072"/>
            <a:ext cx="2377440" cy="21945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9"/>
          <p:cNvSpPr/>
          <p:nvPr/>
        </p:nvSpPr>
        <p:spPr>
          <a:xfrm>
            <a:off x="4315968" y="2807208"/>
            <a:ext cx="1005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F1 = 1.000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9"/>
          <p:cNvSpPr/>
          <p:nvPr/>
        </p:nvSpPr>
        <p:spPr>
          <a:xfrm>
            <a:off x="548640" y="3557016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Gafgyt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9"/>
          <p:cNvSpPr/>
          <p:nvPr/>
        </p:nvSpPr>
        <p:spPr>
          <a:xfrm>
            <a:off x="1874520" y="3611880"/>
            <a:ext cx="2377440" cy="219456"/>
          </a:xfrm>
          <a:prstGeom prst="rect">
            <a:avLst/>
          </a:prstGeom>
          <a:solidFill>
            <a:srgbClr val="1E2D45"/>
          </a:solidFill>
          <a:ln cap="flat" cmpd="sng" w="12700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9"/>
          <p:cNvSpPr/>
          <p:nvPr/>
        </p:nvSpPr>
        <p:spPr>
          <a:xfrm>
            <a:off x="1874520" y="3611880"/>
            <a:ext cx="2377440" cy="21945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9"/>
          <p:cNvSpPr/>
          <p:nvPr/>
        </p:nvSpPr>
        <p:spPr>
          <a:xfrm>
            <a:off x="4315968" y="3557016"/>
            <a:ext cx="1005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F1 = 1.000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/>
          <p:nvPr/>
        </p:nvSpPr>
        <p:spPr>
          <a:xfrm>
            <a:off x="548640" y="420624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Perfect separation — all 3 classes achieve F1 = 1.000 on 60K test samples.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4663440" y="1417320"/>
            <a:ext cx="4114800" cy="338328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9"/>
          <p:cNvSpPr/>
          <p:nvPr/>
        </p:nvSpPr>
        <p:spPr>
          <a:xfrm>
            <a:off x="4663440" y="1417320"/>
            <a:ext cx="4114800" cy="36576"/>
          </a:xfrm>
          <a:prstGeom prst="rect">
            <a:avLst/>
          </a:prstGeom>
          <a:solidFill>
            <a:srgbClr val="A78BFA"/>
          </a:solidFill>
          <a:ln cap="flat" cmpd="sng" w="12700">
            <a:solidFill>
              <a:srgbClr val="A78B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9"/>
          <p:cNvSpPr/>
          <p:nvPr/>
        </p:nvSpPr>
        <p:spPr>
          <a:xfrm>
            <a:off x="4846320" y="1572768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9-Class: Attack Subtypes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9"/>
          <p:cNvSpPr/>
          <p:nvPr/>
        </p:nvSpPr>
        <p:spPr>
          <a:xfrm>
            <a:off x="4846320" y="2029968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9"/>
          <p:cNvSpPr/>
          <p:nvPr/>
        </p:nvSpPr>
        <p:spPr>
          <a:xfrm>
            <a:off x="4892040" y="2084832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Normal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9"/>
          <p:cNvSpPr/>
          <p:nvPr/>
        </p:nvSpPr>
        <p:spPr>
          <a:xfrm>
            <a:off x="4892040" y="2359152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9"/>
          <p:cNvSpPr/>
          <p:nvPr/>
        </p:nvSpPr>
        <p:spPr>
          <a:xfrm>
            <a:off x="6172200" y="2029968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9"/>
          <p:cNvSpPr/>
          <p:nvPr/>
        </p:nvSpPr>
        <p:spPr>
          <a:xfrm>
            <a:off x="6217920" y="2084832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ACK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9"/>
          <p:cNvSpPr/>
          <p:nvPr/>
        </p:nvSpPr>
        <p:spPr>
          <a:xfrm>
            <a:off x="6217920" y="2359152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9"/>
          <p:cNvSpPr/>
          <p:nvPr/>
        </p:nvSpPr>
        <p:spPr>
          <a:xfrm>
            <a:off x="7498080" y="2029968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9"/>
          <p:cNvSpPr/>
          <p:nvPr/>
        </p:nvSpPr>
        <p:spPr>
          <a:xfrm>
            <a:off x="7543800" y="2084832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Combo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9"/>
          <p:cNvSpPr/>
          <p:nvPr/>
        </p:nvSpPr>
        <p:spPr>
          <a:xfrm>
            <a:off x="7543800" y="2359152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9"/>
          <p:cNvSpPr/>
          <p:nvPr/>
        </p:nvSpPr>
        <p:spPr>
          <a:xfrm>
            <a:off x="4846320" y="2852928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9"/>
          <p:cNvSpPr/>
          <p:nvPr/>
        </p:nvSpPr>
        <p:spPr>
          <a:xfrm>
            <a:off x="4892040" y="2907792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Junk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/>
          <p:nvPr/>
        </p:nvSpPr>
        <p:spPr>
          <a:xfrm>
            <a:off x="4892040" y="3182112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6172200" y="2852928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9"/>
          <p:cNvSpPr/>
          <p:nvPr/>
        </p:nvSpPr>
        <p:spPr>
          <a:xfrm>
            <a:off x="6217920" y="2907792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Scan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9"/>
          <p:cNvSpPr/>
          <p:nvPr/>
        </p:nvSpPr>
        <p:spPr>
          <a:xfrm>
            <a:off x="6217920" y="3182112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9"/>
          <p:cNvSpPr/>
          <p:nvPr/>
        </p:nvSpPr>
        <p:spPr>
          <a:xfrm>
            <a:off x="7498080" y="2852928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9"/>
          <p:cNvSpPr/>
          <p:nvPr/>
        </p:nvSpPr>
        <p:spPr>
          <a:xfrm>
            <a:off x="7543800" y="2907792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SYN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9"/>
          <p:cNvSpPr/>
          <p:nvPr/>
        </p:nvSpPr>
        <p:spPr>
          <a:xfrm>
            <a:off x="7543800" y="3182112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9"/>
          <p:cNvSpPr/>
          <p:nvPr/>
        </p:nvSpPr>
        <p:spPr>
          <a:xfrm>
            <a:off x="4846320" y="3675888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9"/>
          <p:cNvSpPr/>
          <p:nvPr/>
        </p:nvSpPr>
        <p:spPr>
          <a:xfrm>
            <a:off x="4892040" y="3730752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TCP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/>
          <p:cNvSpPr/>
          <p:nvPr/>
        </p:nvSpPr>
        <p:spPr>
          <a:xfrm>
            <a:off x="4892040" y="4005072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0.99 ⚠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6172200" y="3675888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9"/>
          <p:cNvSpPr/>
          <p:nvPr/>
        </p:nvSpPr>
        <p:spPr>
          <a:xfrm>
            <a:off x="6217920" y="3730752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UDP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9"/>
          <p:cNvSpPr/>
          <p:nvPr/>
        </p:nvSpPr>
        <p:spPr>
          <a:xfrm>
            <a:off x="6217920" y="4005072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9"/>
          <p:cNvSpPr/>
          <p:nvPr/>
        </p:nvSpPr>
        <p:spPr>
          <a:xfrm>
            <a:off x="7498080" y="3675888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9"/>
          <p:cNvSpPr/>
          <p:nvPr/>
        </p:nvSpPr>
        <p:spPr>
          <a:xfrm>
            <a:off x="7543800" y="3730752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UDPPlain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9"/>
          <p:cNvSpPr/>
          <p:nvPr/>
        </p:nvSpPr>
        <p:spPr>
          <a:xfrm>
            <a:off x="7543800" y="4005072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9"/>
          <p:cNvSpPr/>
          <p:nvPr/>
        </p:nvSpPr>
        <p:spPr>
          <a:xfrm>
            <a:off x="4846320" y="420624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Only TCP precision = 0.99 (tiny miss). Everything else: perfect.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07 — FEATURE IMPORTANCE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0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Which Network Stats Matter Most?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0"/>
          <p:cNvSpPr/>
          <p:nvPr/>
        </p:nvSpPr>
        <p:spPr>
          <a:xfrm>
            <a:off x="365760" y="14173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Random Forest — Mean Decrease Impurity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4" name="Google Shape;204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1691640"/>
            <a:ext cx="5303520" cy="32004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0"/>
          <p:cNvSpPr/>
          <p:nvPr/>
        </p:nvSpPr>
        <p:spPr>
          <a:xfrm>
            <a:off x="5897880" y="1417320"/>
            <a:ext cx="2880360" cy="192024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0"/>
          <p:cNvSpPr/>
          <p:nvPr/>
        </p:nvSpPr>
        <p:spPr>
          <a:xfrm>
            <a:off x="5897880" y="1417320"/>
            <a:ext cx="2880360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0"/>
          <p:cNvSpPr/>
          <p:nvPr/>
        </p:nvSpPr>
        <p:spPr>
          <a:xfrm>
            <a:off x="6080760" y="1572768"/>
            <a:ext cx="2514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Top Finding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0"/>
          <p:cNvSpPr/>
          <p:nvPr/>
        </p:nvSpPr>
        <p:spPr>
          <a:xfrm>
            <a:off x="6080760" y="1920240"/>
            <a:ext cx="251460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MI_dir_L0.1_weight (packet count) alone accounts for 32.1% of RF decision power. Botnets generate enormous packet floods — raw volume is the #1 signal.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0"/>
          <p:cNvSpPr/>
          <p:nvPr/>
        </p:nvSpPr>
        <p:spPr>
          <a:xfrm>
            <a:off x="5897880" y="3493008"/>
            <a:ext cx="2880360" cy="141732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0"/>
          <p:cNvSpPr/>
          <p:nvPr/>
        </p:nvSpPr>
        <p:spPr>
          <a:xfrm>
            <a:off x="5897880" y="3493008"/>
            <a:ext cx="2880360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0"/>
          <p:cNvSpPr/>
          <p:nvPr/>
        </p:nvSpPr>
        <p:spPr>
          <a:xfrm>
            <a:off x="6080760" y="3648456"/>
            <a:ext cx="2514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Top 10 vs All 19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0"/>
          <p:cNvSpPr/>
          <p:nvPr/>
        </p:nvSpPr>
        <p:spPr>
          <a:xfrm>
            <a:off x="6080760" y="3977640"/>
            <a:ext cx="2514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Top 10 features:  </a:t>
            </a: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0.9995</a:t>
            </a: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  F1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All 19 features: 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0.9993</a:t>
            </a: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  F1</a:t>
            </a:r>
            <a:b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Top 10 actually wins — extra features add noise.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1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08 — PER-DEVICE EVALUATION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1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Does One Model Work for All 9 Devices?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20" name="Google Shape;220;p11"/>
          <p:cNvGraphicFramePr/>
          <p:nvPr/>
        </p:nvGraphicFramePr>
        <p:xfrm>
          <a:off x="365760" y="14173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{EA8ED157-B24D-4143-8661-92E45FDAB6E2}</a:tableStyleId>
              </a:tblPr>
              <a:tblGrid>
                <a:gridCol w="3657600"/>
                <a:gridCol w="1463050"/>
                <a:gridCol w="1463050"/>
                <a:gridCol w="1828800"/>
              </a:tblGrid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Device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F1-Attack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F1-Normal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Samples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Ecobee Thermostat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47,231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Danmini Doorbell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57,975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Ennio Doorbell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19,908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Provision PT-737E Camera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46,740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Provision PT-838 Camera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47,743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Samsung SNH-1011-N Webcam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21,146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SimpleHome XCS7-1003 Camera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48,199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SimpleHome XCS7-1002 Camera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9F43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FF9F4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0.9999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0.9998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48,775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Philips B120N10 Baby Monitor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9F43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FF9F4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0.9999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9F43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FF9F4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62,282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</a:tbl>
          </a:graphicData>
        </a:graphic>
      </p:graphicFrame>
      <p:sp>
        <p:nvSpPr>
          <p:cNvPr id="221" name="Google Shape;221;p11"/>
          <p:cNvSpPr/>
          <p:nvPr/>
        </p:nvSpPr>
        <p:spPr>
          <a:xfrm>
            <a:off x="365760" y="4919472"/>
            <a:ext cx="8412480" cy="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1"/>
          <p:cNvSpPr/>
          <p:nvPr/>
        </p:nvSpPr>
        <p:spPr>
          <a:xfrm>
            <a:off x="365760" y="4919472"/>
            <a:ext cx="8412480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1"/>
          <p:cNvSpPr/>
          <p:nvPr/>
        </p:nvSpPr>
        <p:spPr>
          <a:xfrm>
            <a:off x="548640" y="4919472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✅  7 of 9 devices achieve perfect F1 = 1.000. A single global model generalises across all IoT device types — no per-device retraining needed.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2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09 — GOAL ASSESSMENT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2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Are Our Research Goals Met?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2"/>
          <p:cNvSpPr/>
          <p:nvPr/>
        </p:nvSpPr>
        <p:spPr>
          <a:xfrm>
            <a:off x="365760" y="1417320"/>
            <a:ext cx="2724912" cy="1572768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2"/>
          <p:cNvSpPr/>
          <p:nvPr/>
        </p:nvSpPr>
        <p:spPr>
          <a:xfrm>
            <a:off x="365760" y="1417320"/>
            <a:ext cx="2724912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2"/>
          <p:cNvSpPr/>
          <p:nvPr/>
        </p:nvSpPr>
        <p:spPr>
          <a:xfrm>
            <a:off x="502920" y="1581912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✅  MET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2"/>
          <p:cNvSpPr/>
          <p:nvPr/>
        </p:nvSpPr>
        <p:spPr>
          <a:xfrm>
            <a:off x="502920" y="1874520"/>
            <a:ext cx="2450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Binary Detection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2"/>
          <p:cNvSpPr/>
          <p:nvPr/>
        </p:nvSpPr>
        <p:spPr>
          <a:xfrm>
            <a:off x="502920" y="2194560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All 4 models ≥ F1-Macro 0.999. LogReg achieves this at 0.58 μs — real-time capable.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2"/>
          <p:cNvSpPr/>
          <p:nvPr/>
        </p:nvSpPr>
        <p:spPr>
          <a:xfrm>
            <a:off x="3218688" y="1417320"/>
            <a:ext cx="2724912" cy="1572768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2"/>
          <p:cNvSpPr/>
          <p:nvPr/>
        </p:nvSpPr>
        <p:spPr>
          <a:xfrm>
            <a:off x="3218688" y="1417320"/>
            <a:ext cx="2724912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2"/>
          <p:cNvSpPr/>
          <p:nvPr/>
        </p:nvSpPr>
        <p:spPr>
          <a:xfrm>
            <a:off x="3355848" y="1581912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✅  MET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2"/>
          <p:cNvSpPr/>
          <p:nvPr/>
        </p:nvSpPr>
        <p:spPr>
          <a:xfrm>
            <a:off x="3355848" y="1874520"/>
            <a:ext cx="2450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Attack Family ID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2"/>
          <p:cNvSpPr/>
          <p:nvPr/>
        </p:nvSpPr>
        <p:spPr>
          <a:xfrm>
            <a:off x="3355848" y="2194560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Normal / Mirai / Gafgyt perfectly separated. F1 = 1.000 across all three classes.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2"/>
          <p:cNvSpPr/>
          <p:nvPr/>
        </p:nvSpPr>
        <p:spPr>
          <a:xfrm>
            <a:off x="6071616" y="1417320"/>
            <a:ext cx="2724912" cy="1572768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2"/>
          <p:cNvSpPr/>
          <p:nvPr/>
        </p:nvSpPr>
        <p:spPr>
          <a:xfrm>
            <a:off x="6071616" y="1417320"/>
            <a:ext cx="2724912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2"/>
          <p:cNvSpPr/>
          <p:nvPr/>
        </p:nvSpPr>
        <p:spPr>
          <a:xfrm>
            <a:off x="6208776" y="1581912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✅  MET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2"/>
          <p:cNvSpPr/>
          <p:nvPr/>
        </p:nvSpPr>
        <p:spPr>
          <a:xfrm>
            <a:off x="6208776" y="1874520"/>
            <a:ext cx="2450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Subtype Classification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2"/>
          <p:cNvSpPr/>
          <p:nvPr/>
        </p:nvSpPr>
        <p:spPr>
          <a:xfrm>
            <a:off x="6208776" y="2194560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9-class model achieves ~100% accuracy. Only TCP shows precision = 0.99.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2"/>
          <p:cNvSpPr/>
          <p:nvPr/>
        </p:nvSpPr>
        <p:spPr>
          <a:xfrm>
            <a:off x="365760" y="3154680"/>
            <a:ext cx="2724912" cy="1572768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2"/>
          <p:cNvSpPr/>
          <p:nvPr/>
        </p:nvSpPr>
        <p:spPr>
          <a:xfrm>
            <a:off x="365760" y="3154680"/>
            <a:ext cx="2724912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2"/>
          <p:cNvSpPr/>
          <p:nvPr/>
        </p:nvSpPr>
        <p:spPr>
          <a:xfrm>
            <a:off x="502920" y="3319272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✅  MET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2"/>
          <p:cNvSpPr/>
          <p:nvPr/>
        </p:nvSpPr>
        <p:spPr>
          <a:xfrm>
            <a:off x="502920" y="3611880"/>
            <a:ext cx="2450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Feature Importance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2"/>
          <p:cNvSpPr/>
          <p:nvPr/>
        </p:nvSpPr>
        <p:spPr>
          <a:xfrm>
            <a:off x="502920" y="3931920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Packet count (MI_dir weight) = 32% of importance. Top 10 features outperform all 19.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2"/>
          <p:cNvSpPr/>
          <p:nvPr/>
        </p:nvSpPr>
        <p:spPr>
          <a:xfrm>
            <a:off x="3218688" y="3154680"/>
            <a:ext cx="2724912" cy="1572768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2"/>
          <p:cNvSpPr/>
          <p:nvPr/>
        </p:nvSpPr>
        <p:spPr>
          <a:xfrm>
            <a:off x="3218688" y="3154680"/>
            <a:ext cx="2724912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2"/>
          <p:cNvSpPr/>
          <p:nvPr/>
        </p:nvSpPr>
        <p:spPr>
          <a:xfrm>
            <a:off x="3355848" y="3319272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✅  MET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2"/>
          <p:cNvSpPr/>
          <p:nvPr/>
        </p:nvSpPr>
        <p:spPr>
          <a:xfrm>
            <a:off x="3355848" y="3611880"/>
            <a:ext cx="2450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Device Generalization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2"/>
          <p:cNvSpPr/>
          <p:nvPr/>
        </p:nvSpPr>
        <p:spPr>
          <a:xfrm>
            <a:off x="3355848" y="3931920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Single model scores F1 ≥ 0.999 on all 9 devices. No device-specific training needed.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2"/>
          <p:cNvSpPr/>
          <p:nvPr/>
        </p:nvSpPr>
        <p:spPr>
          <a:xfrm>
            <a:off x="6071616" y="3154680"/>
            <a:ext cx="2724912" cy="1572768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2"/>
          <p:cNvSpPr/>
          <p:nvPr/>
        </p:nvSpPr>
        <p:spPr>
          <a:xfrm>
            <a:off x="6071616" y="3154680"/>
            <a:ext cx="2724912" cy="36576"/>
          </a:xfrm>
          <a:prstGeom prst="rect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2"/>
          <p:cNvSpPr/>
          <p:nvPr/>
        </p:nvSpPr>
        <p:spPr>
          <a:xfrm>
            <a:off x="6208776" y="3319272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⚠️  PARTIAL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2"/>
          <p:cNvSpPr/>
          <p:nvPr/>
        </p:nvSpPr>
        <p:spPr>
          <a:xfrm>
            <a:off x="6208776" y="3611880"/>
            <a:ext cx="2450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Real-World Deployment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2"/>
          <p:cNvSpPr/>
          <p:nvPr/>
        </p:nvSpPr>
        <p:spPr>
          <a:xfrm>
            <a:off x="6208776" y="3931920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Latency goals met. But no temporal split — train/test from same capture session.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3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10 — CONCLUSION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3"/>
          <p:cNvSpPr/>
          <p:nvPr/>
        </p:nvSpPr>
        <p:spPr>
          <a:xfrm>
            <a:off x="6400800" y="-731520"/>
            <a:ext cx="4114800" cy="4114800"/>
          </a:xfrm>
          <a:prstGeom prst="ellipse">
            <a:avLst/>
          </a:prstGeom>
          <a:solidFill>
            <a:srgbClr val="00E596">
              <a:alpha val="7058"/>
            </a:srgbClr>
          </a:solidFill>
          <a:ln cap="flat" cmpd="sng" w="9525">
            <a:solidFill>
              <a:srgbClr val="00E59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3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Summary &amp; Next Steps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3"/>
          <p:cNvSpPr/>
          <p:nvPr/>
        </p:nvSpPr>
        <p:spPr>
          <a:xfrm>
            <a:off x="365760" y="1325880"/>
            <a:ext cx="5029200" cy="352044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3"/>
          <p:cNvSpPr/>
          <p:nvPr/>
        </p:nvSpPr>
        <p:spPr>
          <a:xfrm>
            <a:off x="365760" y="1325880"/>
            <a:ext cx="5029200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13"/>
          <p:cNvSpPr/>
          <p:nvPr/>
        </p:nvSpPr>
        <p:spPr>
          <a:xfrm>
            <a:off x="548640" y="1481328"/>
            <a:ext cx="4663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Key Results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3"/>
          <p:cNvSpPr/>
          <p:nvPr/>
        </p:nvSpPr>
        <p:spPr>
          <a:xfrm>
            <a:off x="548640" y="1828800"/>
            <a:ext cx="4663440" cy="2834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All 4 models achieve F1-Macro ≥ 0.999 on binary task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Botnet families (Mirai / Gafgyt) perfectly separable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9-subtype classification near-perfect (~100% accuracy)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Top 10 features outperform all 19 — noise reduction helps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Single global model works across all 9 IoT device types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MLP recommended: best accuracy-latency balance (5.66 μs)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3"/>
          <p:cNvSpPr/>
          <p:nvPr/>
        </p:nvSpPr>
        <p:spPr>
          <a:xfrm>
            <a:off x="5577840" y="1325880"/>
            <a:ext cx="3200400" cy="164592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3"/>
          <p:cNvSpPr/>
          <p:nvPr/>
        </p:nvSpPr>
        <p:spPr>
          <a:xfrm>
            <a:off x="5577840" y="1325880"/>
            <a:ext cx="3200400" cy="36576"/>
          </a:xfrm>
          <a:prstGeom prst="rect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3"/>
          <p:cNvSpPr/>
          <p:nvPr/>
        </p:nvSpPr>
        <p:spPr>
          <a:xfrm>
            <a:off x="5760720" y="1481328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Limitations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3"/>
          <p:cNvSpPr/>
          <p:nvPr/>
        </p:nvSpPr>
        <p:spPr>
          <a:xfrm>
            <a:off x="5760720" y="1828800"/>
            <a:ext cx="28346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No temporal split (in-distribution benchmark)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Dataset v2 has ~8.8% duplicate rows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9 devices from one lab environment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3"/>
          <p:cNvSpPr/>
          <p:nvPr/>
        </p:nvSpPr>
        <p:spPr>
          <a:xfrm>
            <a:off x="5577840" y="3127248"/>
            <a:ext cx="3200400" cy="1719072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3"/>
          <p:cNvSpPr/>
          <p:nvPr/>
        </p:nvSpPr>
        <p:spPr>
          <a:xfrm>
            <a:off x="5577840" y="3127248"/>
            <a:ext cx="3200400" cy="36576"/>
          </a:xfrm>
          <a:prstGeom prst="rect">
            <a:avLst/>
          </a:prstGeom>
          <a:solidFill>
            <a:srgbClr val="A78BFA"/>
          </a:solidFill>
          <a:ln cap="flat" cmpd="sng" w="12700">
            <a:solidFill>
              <a:srgbClr val="A78B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3"/>
          <p:cNvSpPr/>
          <p:nvPr/>
        </p:nvSpPr>
        <p:spPr>
          <a:xfrm>
            <a:off x="5760720" y="3282696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Next Steps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3"/>
          <p:cNvSpPr/>
          <p:nvPr/>
        </p:nvSpPr>
        <p:spPr>
          <a:xfrm>
            <a:off x="5760720" y="3630168"/>
            <a:ext cx="28346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Temporal train/test split for real-world estimate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Test on unseen devices / new attack variants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SHAP values for interpretability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