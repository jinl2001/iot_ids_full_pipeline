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hhFoGDaN8Pxuq4cHmyRQ4I8prq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C55CD7-5896-421A-AF81-9E40704EDEDE}">
  <a:tblStyle styleId="{5CC55CD7-5896-421A-AF81-9E40704EDE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0D4FF">
              <a:alpha val="7843"/>
            </a:srgbClr>
          </a:solidFill>
          <a:ln cap="flat" cmpd="sng" w="9525">
            <a:solidFill>
              <a:srgbClr val="00D4FF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7132320" y="-457200"/>
            <a:ext cx="2743200" cy="2743200"/>
          </a:xfrm>
          <a:prstGeom prst="ellipse">
            <a:avLst/>
          </a:prstGeom>
          <a:solidFill>
            <a:srgbClr val="00D4FF">
              <a:alpha val="12941"/>
            </a:srgbClr>
          </a:solidFill>
          <a:ln cap="flat" cmpd="sng" w="12700">
            <a:solidFill>
              <a:srgbClr val="00D4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02920" y="11887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FINAL PROJECT  ·  NEURAL NETWORKS COURSE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02920" y="1572768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IoT Intrusion Detection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02920" y="23317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Systems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02920" y="3218688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Detecting IoT botnet attacks using ML on network flow statistics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02920" y="3840480"/>
            <a:ext cx="4389120" cy="5029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" y="3913632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Jinhong Lin  ·  Elton Chang  ·  Shiwei Jiang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02920" y="448056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Dataset: BoTNeTIoT-L01 (Kaggle)  ·  April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01 — PROBLEM STATEMENT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What Are We Trying to Solve?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36576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1417320"/>
            <a:ext cx="4114800" cy="36576"/>
          </a:xfrm>
          <a:prstGeom prst="rect">
            <a:avLst/>
          </a:prstGeom>
          <a:solidFill>
            <a:srgbClr val="FF4D6D"/>
          </a:solidFill>
          <a:ln cap="flat" cmpd="sng" w="12700">
            <a:solidFill>
              <a:srgbClr val="FF4D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4864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D6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4D6D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48640" y="2054225"/>
            <a:ext cx="3749040" cy="20237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IoT devices are increasingly targeted by botnets like Mirai and Gafgyt, which can compromise thousands of devices and launch large-scale DDoS attacks.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The challenge: distinguish malicious botnet traffic from normal IoT behaviour in real time — before compromised devices can be weaponised.</a:t>
            </a:r>
            <a:endParaRPr b="0" i="0" sz="14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66344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663440" y="1417320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84632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846320" y="1995805"/>
            <a:ext cx="3657600" cy="2068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Train 4 ML models on 23 engineered network flow statistics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Binary detection: attack (0) vs normal (1)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Multiclass: identify botnet family &amp; attack subtype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Evaluate feature importance, device generalization, and inference latency</a:t>
            </a:r>
            <a:endParaRPr b="0" i="0" sz="14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02 — DATASET &amp; EDA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BoTNeTIoT-L01 Dataset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365760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365760" y="1417320"/>
            <a:ext cx="1572768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475488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300K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57200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 1 rows (sample)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2066544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066544" y="1417320"/>
            <a:ext cx="1572768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176272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400K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2157984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 2 rows (sample)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3767328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3767328" y="1417320"/>
            <a:ext cx="1572768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3877056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3858768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Features used (4 pruned)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5468112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5468112" y="1417320"/>
            <a:ext cx="1572768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5577840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559552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IoT Device types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168896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7168896" y="1417320"/>
            <a:ext cx="1572768" cy="36576"/>
          </a:xfrm>
          <a:prstGeom prst="rect">
            <a:avLst/>
          </a:prstGeom>
          <a:solidFill>
            <a:srgbClr val="FF4D6D"/>
          </a:solidFill>
          <a:ln cap="flat" cmpd="sng" w="12700">
            <a:solidFill>
              <a:srgbClr val="FF4D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7278624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D6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4D6D"/>
                </a:solidFill>
                <a:latin typeface="Calibri"/>
                <a:ea typeface="Calibri"/>
                <a:cs typeface="Calibri"/>
                <a:sym typeface="Calibri"/>
              </a:rPr>
              <a:t>78.8%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260336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Attack rate (Dataset 1)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65760" y="2724912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Class Imbalance (Dataset 1 sample)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3054477"/>
            <a:ext cx="3931920" cy="181051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"/>
          <p:cNvSpPr/>
          <p:nvPr/>
        </p:nvSpPr>
        <p:spPr>
          <a:xfrm>
            <a:off x="4663440" y="2742438"/>
            <a:ext cx="4114800" cy="219456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663440" y="2742438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4846320" y="288874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Key EDA Findings -&gt; Pipeline Rationale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846320" y="3291840"/>
            <a:ext cx="3749040" cy="1450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0 missing values in both datasets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4 features perfectly correlated (r=1.00) → removed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12 features highly skewed → log1p applied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2 botnet families: Mirai + Gafgyt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 attack subtypes incl. UDP, TCP, SYN, ACK…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03 — PREPROCESSING PIPELINE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EDA-Driven Preprocessing Choices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281305" y="141478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281305" y="1414780"/>
            <a:ext cx="416052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418465" y="157937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939673" y="159143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Drop Redundant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418465" y="203657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Remove 4 perfectly correlated features (r=1.00). 23 → 19 features.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4716145" y="141478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4716145" y="1414780"/>
            <a:ext cx="416052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4853305" y="157937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5374513" y="159143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Log1p Transform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853305" y="203657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Apply log1p(|x|) to 12 highly skewed features to normalize distributions.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281305" y="296926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281305" y="2969260"/>
            <a:ext cx="416052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418465" y="313385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939673" y="314591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Standardize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418465" y="359105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Fit StandardScaler on training data only. Apply to val + test to prevent data leakage.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4716145" y="296926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4716145" y="2969260"/>
            <a:ext cx="416052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4853305" y="313385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5374513" y="314591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Stratified Split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853305" y="359105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70% train / 15% val / 15% test. Stratified by label to preserve class ratios.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4"/>
          <p:cNvCxnSpPr/>
          <p:nvPr/>
        </p:nvCxnSpPr>
        <p:spPr>
          <a:xfrm>
            <a:off x="1835785" y="214630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2" name="Google Shape;102;p4"/>
          <p:cNvCxnSpPr/>
          <p:nvPr/>
        </p:nvCxnSpPr>
        <p:spPr>
          <a:xfrm>
            <a:off x="6270625" y="214630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" name="Google Shape;103;p4"/>
          <p:cNvCxnSpPr/>
          <p:nvPr/>
        </p:nvCxnSpPr>
        <p:spPr>
          <a:xfrm>
            <a:off x="1835785" y="370078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04 — BINARY CLASSIFICATION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vs Normal — All 4 Models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657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365760" y="1371600"/>
            <a:ext cx="192024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754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0.9998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4572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Best F1-Macro (RF)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24231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2423160" y="1371600"/>
            <a:ext cx="192024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25328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1.0000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25146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Best AUC-ROC (RF/HGB/MLP)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44805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4480560" y="1371600"/>
            <a:ext cx="192024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45902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0.58μs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45720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Fastest Latency (LogReg)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65379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537960" y="1371600"/>
            <a:ext cx="192024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66476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5.66μs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66294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MLP Latency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7" name="Google Shape;127;p5"/>
          <p:cNvGraphicFramePr/>
          <p:nvPr/>
        </p:nvGraphicFramePr>
        <p:xfrm>
          <a:off x="365760" y="257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{5CC55CD7-5896-421A-AF81-9E40704EDEDE}</a:tableStyleId>
              </a:tblPr>
              <a:tblGrid>
                <a:gridCol w="1310000"/>
                <a:gridCol w="1440825"/>
                <a:gridCol w="1440825"/>
                <a:gridCol w="1441450"/>
                <a:gridCol w="1441450"/>
                <a:gridCol w="1397000"/>
              </a:tblGrid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F1-Attack(0)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F1-Normal(1)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F1-Macro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AUC-ROC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Latency (μs)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D4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D4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LogReg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0.9984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0.577 ⚡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0.9998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4D6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4D6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45.43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78BF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HGB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15.34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4D6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4D6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0.9989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5.66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05 — LATENCY VS ACCURACY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Which Model is Best for Real-Time IDS?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365760" y="14173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F1-Macro by Model (test set)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691640"/>
            <a:ext cx="402336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"/>
          <p:cNvSpPr/>
          <p:nvPr/>
        </p:nvSpPr>
        <p:spPr>
          <a:xfrm>
            <a:off x="4754880" y="14173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Inference Latency μs/sample (lower = faster)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1691640"/>
            <a:ext cx="402336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/>
          <p:nvPr/>
        </p:nvSpPr>
        <p:spPr>
          <a:xfrm>
            <a:off x="365760" y="4187952"/>
            <a:ext cx="8412480" cy="713232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365760" y="4187952"/>
            <a:ext cx="841248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548640" y="4315968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★  Recommendation: MLP offers the best balance — F1-Macro 0.9993 at 5.66 μs/sample (8× faster than RF, 0.0005 lower F1). LogReg at 0.58μs is ideal for ultra-low-latency edge deployment.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06 — MULTICLASS CLASSIFICATION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Family &amp; Subtype Identification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277495" y="1417320"/>
            <a:ext cx="4114800" cy="347091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277495" y="1417320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460375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3-Class: Normal / Mirai / Gafgyt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60375" y="21031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Normal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1786255" y="2112010"/>
            <a:ext cx="2555240" cy="310515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1127760" y="2157984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3569208" y="2103120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60375" y="285292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Mirai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1786255" y="2861945"/>
            <a:ext cx="2555240" cy="310515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127760" y="2907792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3569208" y="2852928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460375" y="360273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Gafgyt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1786255" y="3611880"/>
            <a:ext cx="2555240" cy="310515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1127760" y="3657600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3569208" y="3602736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460375" y="43002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Near-perfect separation on this in-distribution benchmark sample; results should be interpreted as strong dataset separability rather than guaranteed field performance.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575175" y="1417320"/>
            <a:ext cx="4114800" cy="347091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5175" y="1417320"/>
            <a:ext cx="411480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4758055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9-Class: Attack Subtypes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4758055" y="192392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4803775" y="197878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Normal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803775" y="225310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6083935" y="192392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6129655" y="197878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129655" y="225310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7409815" y="192392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7455535" y="197878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Combo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7455535" y="225310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4758055" y="274688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803775" y="280174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Junk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4803775" y="307606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6083935" y="274688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6129655" y="280174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Scan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6129655" y="307606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7409815" y="274688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7455535" y="280174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SYN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7455535" y="307606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4758055" y="356984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4803775" y="36247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TCP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4803775" y="389902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0.99 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083935" y="356984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6129655" y="36247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UDP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6129655" y="389902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7409815" y="356984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7455535" y="36247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UDPPlain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7455535" y="389902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4758055" y="4371975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Only TCP precision drops slightly to 0.99; the remaining subtype scores are near-perfect on this sampled benchmark split.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07 — FEATURE IMPORTANCE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Which Network Stats Matter Most?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Random Forest — Mean Decrease Impurity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691640"/>
            <a:ext cx="530352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/>
          <p:nvPr/>
        </p:nvSpPr>
        <p:spPr>
          <a:xfrm>
            <a:off x="5897880" y="1417320"/>
            <a:ext cx="2880360" cy="1481455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5897880" y="1417320"/>
            <a:ext cx="288036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6080760" y="1572768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Top Finding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6080760" y="1851660"/>
            <a:ext cx="25146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MI_dir_L0.1_weight (packet count) alone accounts for 32.1% of RF decision power. Botnets generate enormous packet floods — raw volume is the #1 signal.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897880" y="3115945"/>
            <a:ext cx="2880360" cy="1784985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5897880" y="3129788"/>
            <a:ext cx="288036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6080760" y="3259836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Top 10 vs All 19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6080760" y="3748405"/>
            <a:ext cx="2559685" cy="1006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Top 10 features:  </a:t>
            </a: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0.9995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 F1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All 19 features:  </a:t>
            </a: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0.9993 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F1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Exploratory result: a reduced top-10 feature set retained comparable performance, suggesting some extra features may be redundant.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08 — PER-DEVICE EVALUATION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502920" y="554990"/>
            <a:ext cx="8138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How Consistent Is Performance Across the 9 Devices?</a:t>
            </a:r>
            <a:endParaRPr b="1" i="0" sz="24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0" name="Google Shape;220;p9"/>
          <p:cNvGraphicFramePr/>
          <p:nvPr/>
        </p:nvGraphicFramePr>
        <p:xfrm>
          <a:off x="525735" y="11950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{5CC55CD7-5896-421A-AF81-9E40704EDEDE}</a:tableStyleId>
              </a:tblPr>
              <a:tblGrid>
                <a:gridCol w="2797025"/>
                <a:gridCol w="1196700"/>
                <a:gridCol w="1170750"/>
                <a:gridCol w="1268675"/>
              </a:tblGrid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Device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F1-Attack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F1-Normal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Samples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Ecobee Thermostat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47,231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Danmini Doorbell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57,975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Ennio Doorbell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19,908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Provision PT-737E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46,740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Provision PT-838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47,743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Samsung SNH-1011-N Webcam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21,146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SimpleHome XCS7-1003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48,199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SimpleHome XCS7-1002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48,775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Philips B120N10 Baby Monitor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62,282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</a:tbl>
          </a:graphicData>
        </a:graphic>
      </p:graphicFrame>
      <p:sp>
        <p:nvSpPr>
          <p:cNvPr id="221" name="Google Shape;221;p9"/>
          <p:cNvSpPr/>
          <p:nvPr/>
        </p:nvSpPr>
        <p:spPr>
          <a:xfrm>
            <a:off x="365760" y="4919472"/>
            <a:ext cx="8412480" cy="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365760" y="4919472"/>
            <a:ext cx="841248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525725" y="4563950"/>
            <a:ext cx="8184000" cy="39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✅  7 of 9 devices achieve perfect F1 = 1.000. A single global model generalises across all IoT device types — no per-device retraining needed.</a:t>
            </a:r>
            <a:endParaRPr sz="1000"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None/>
            </a:pPr>
            <a:r>
              <a:t/>
            </a:r>
            <a:endParaRPr sz="10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 txBox="1"/>
          <p:nvPr/>
        </p:nvSpPr>
        <p:spPr>
          <a:xfrm>
            <a:off x="7122450" y="1925975"/>
            <a:ext cx="19152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chemeClr val="lt2"/>
                </a:solidFill>
              </a:rPr>
              <a:t>⚠️ However, this evaluation uses a random split where the same devices appear in both training and test sets. Therefore, results reflect strong in-distribution performance rather than true generalization to unseen devices (i.e., not a leave-one-device-out test).</a:t>
            </a:r>
            <a:endParaRPr sz="10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0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09 — GOAL ASSESSMENT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Are Our Research Goals Met?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365760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65760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502920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502920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Binary Detection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4 models ≥ F1-Macro 0.999. LogReg achieves this at 0.58 μs — real-time capable.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3218688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3218688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3355848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3355848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Family 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3355848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Normal / Mirai / Gafgyt are near-perfectly separated on the sampled benchmark split; interpret this as strong in-distribution performance.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071616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6071616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6208776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6208776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Subtype Classification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6208776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9-class subtype performance is near-perfect on the sampled benchmark split, with TCP showing the main small deviation.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365760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365760" y="315468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502920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502920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Feature Importance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502920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Packet count (MI_dir weight) = 32% of importance. An exploratory top-10 feature subset retained comparable performance.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3218688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3218688" y="315468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3355848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3355848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Device Generalization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3355848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Device-wise results are strong within the sampled benchmark, but this section is exploratory rather than a strict unseen-device test.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6071616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6071616" y="3154680"/>
            <a:ext cx="2724912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6208776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Caveated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208776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Real-World Deployment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6208776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 goals met. But no temporal split — train/test from same capture session.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1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10 — CONCLUSION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Summary &amp; Next Steps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365760" y="1325880"/>
            <a:ext cx="4925060" cy="326517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365760" y="1325880"/>
            <a:ext cx="4926330" cy="76200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548640" y="1682623"/>
            <a:ext cx="4663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Key Results</a:t>
            </a:r>
            <a:endParaRPr b="1" i="0" sz="14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11505" y="2211705"/>
            <a:ext cx="4516120" cy="2092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All 4 models achieve F1-Macro ≥ 0.999 on binary task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Botnet families (Mirai / Gafgyt) are near-perfectly separable on this benchmark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9-subtype classification near-perfect (~100% accuracy)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 reduced top-10 feature set retained comparable performance in an exploratory test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 single global model shows strong device-wise consistency within the sampled benchmark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MLP recommended: best accuracy-latency balance (5.66 μs)</a:t>
            </a:r>
            <a:endParaRPr b="0" i="0" sz="12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5499100" y="1325880"/>
            <a:ext cx="3279140" cy="16459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5499100" y="1325880"/>
            <a:ext cx="3279140" cy="76200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5760720" y="156387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300"/>
              <a:buFont typeface="Calibri"/>
              <a:buNone/>
            </a:pPr>
            <a:r>
              <a:rPr b="1" i="0" lang="en-US" sz="14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1" i="0" sz="1400" u="none" cap="none" strike="noStrike">
              <a:solidFill>
                <a:srgbClr val="FF9F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5651500" y="1876425"/>
            <a:ext cx="31267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 temporal split (in-distribution benchmark)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Dataset v2 has ~8.8% duplicate rows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 devices from one lab environment</a:t>
            </a:r>
            <a:endParaRPr b="0" i="0" sz="10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5499100" y="3127375"/>
            <a:ext cx="3279140" cy="1718945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99100" y="3127375"/>
            <a:ext cx="3279140" cy="76200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5760720" y="3344291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4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 b="1" i="0" sz="1400" u="none" cap="none" strike="noStrike">
              <a:solidFill>
                <a:srgbClr val="A78BF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5652135" y="3724275"/>
            <a:ext cx="3016885" cy="777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Temporal train/test split for real-world estimate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Test on unseen devices / new attack variants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SHAP values for interpretability</a:t>
            </a:r>
            <a:endParaRPr b="0" i="0" sz="10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2026-04-19T21:30:52Z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91DD6066DAB9D5E1E745E569C87ACD94_42</vt:lpwstr>
  </property>
</Properties>
</file>