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A8ED157-B24D-4143-8661-92E45FDAB6E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" name="Google Shape;14;p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" name="Google Shape;29;p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" name="Google Shape;44;p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" name="Google Shape;77;p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7" name="Google Shape;107;p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1" name="Google Shape;131;p6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5" name="Google Shape;145;p7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8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6" name="Google Shape;216;p9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1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7" name="Google Shape;227;p10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1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4" name="Google Shape;264;p1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 w="12700" cap="flat" cmpd="sng">
            <a:solidFill>
              <a:srgbClr val="00D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" name="Google Shape;17;p3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0D4FF">
              <a:alpha val="7843"/>
            </a:srgbClr>
          </a:solidFill>
          <a:ln w="9525" cap="flat" cmpd="sng">
            <a:solidFill>
              <a:srgbClr val="00D4FF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" name="Google Shape;18;p3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00D4FF">
              <a:alpha val="12941"/>
            </a:srgbClr>
          </a:solidFill>
          <a:ln w="12700" cap="flat" cmpd="sng">
            <a:solidFill>
              <a:srgbClr val="00D4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" name="Google Shape;19;p3"/>
          <p:cNvSpPr/>
          <p:nvPr/>
        </p:nvSpPr>
        <p:spPr>
          <a:xfrm>
            <a:off x="502920" y="11887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FINAL PROJECT  ·  NEURAL NETWORKS COURSE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02920" y="1572768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IoT Intrusion Detection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02920" y="23317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Systems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02920" y="3218688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Detecting IoT botnet attacks using ML on network flow statistics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02920" y="3840480"/>
            <a:ext cx="4389120" cy="502920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" name="Google Shape;24;p3"/>
          <p:cNvSpPr/>
          <p:nvPr/>
        </p:nvSpPr>
        <p:spPr>
          <a:xfrm>
            <a:off x="594360" y="3913632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Jinhong Lin  ·  Elton Chang  ·  Shiwei Jiang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02920" y="448056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Dataset: BoTNeTIoT-L01 (Kaggle)  ·  April 2026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01 — PROBLEM STATEMENT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02920" y="502920"/>
            <a:ext cx="8138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What Are We Trying to Solve?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>
            <p:custDataLst>
              <p:tags r:id="rId1"/>
            </p:custDataLst>
          </p:nvPr>
        </p:nvSpPr>
        <p:spPr>
          <a:xfrm>
            <a:off x="365760" y="1417320"/>
            <a:ext cx="4114800" cy="3383280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" name="Google Shape;34;p4"/>
          <p:cNvSpPr/>
          <p:nvPr>
            <p:custDataLst>
              <p:tags r:id="rId2"/>
            </p:custDataLst>
          </p:nvPr>
        </p:nvSpPr>
        <p:spPr>
          <a:xfrm>
            <a:off x="365760" y="1417320"/>
            <a:ext cx="4114800" cy="36576"/>
          </a:xfrm>
          <a:prstGeom prst="rect">
            <a:avLst/>
          </a:prstGeom>
          <a:solidFill>
            <a:srgbClr val="FF4D6D"/>
          </a:solidFill>
          <a:ln w="12700" cap="flat" cmpd="sng">
            <a:solidFill>
              <a:srgbClr val="FF4D6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" name="Google Shape;35;p4"/>
          <p:cNvSpPr/>
          <p:nvPr>
            <p:custDataLst>
              <p:tags r:id="rId3"/>
            </p:custDataLst>
          </p:nvPr>
        </p:nvSpPr>
        <p:spPr>
          <a:xfrm>
            <a:off x="548640" y="1572768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4D6D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4D6D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>
            <p:custDataLst>
              <p:tags r:id="rId4"/>
            </p:custDataLst>
          </p:nvPr>
        </p:nvSpPr>
        <p:spPr>
          <a:xfrm>
            <a:off x="548640" y="2054225"/>
            <a:ext cx="3749040" cy="2023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None/>
            </a:pPr>
            <a:r>
              <a:rPr lang="en-US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IoT devices are increasingly targeted by botnets like Mirai and Gafgyt, which can compromise thousands of devices and launch large-scale DDoS attacks.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None/>
            </a:pPr>
            <a:r>
              <a:rPr lang="en-US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None/>
            </a:pPr>
            <a:r>
              <a:rPr lang="en-US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The challenge: distinguish malicious botnet traffic from normal IoT behaviour in real time — before compromised devices can be weaponised.</a:t>
            </a:r>
            <a:endParaRPr lang="en-US" b="0" i="0" u="none" strike="noStrike" cap="none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>
            <p:custDataLst>
              <p:tags r:id="rId5"/>
            </p:custDataLst>
          </p:nvPr>
        </p:nvSpPr>
        <p:spPr>
          <a:xfrm>
            <a:off x="4663440" y="1417320"/>
            <a:ext cx="4114800" cy="3383280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Google Shape;38;p4"/>
          <p:cNvSpPr/>
          <p:nvPr>
            <p:custDataLst>
              <p:tags r:id="rId6"/>
            </p:custDataLst>
          </p:nvPr>
        </p:nvSpPr>
        <p:spPr>
          <a:xfrm>
            <a:off x="4663440" y="1417320"/>
            <a:ext cx="4114800" cy="36576"/>
          </a:xfrm>
          <a:prstGeom prst="rect">
            <a:avLst/>
          </a:prstGeom>
          <a:solidFill>
            <a:srgbClr val="00D4FF"/>
          </a:solidFill>
          <a:ln w="12700" cap="flat" cmpd="sng">
            <a:solidFill>
              <a:srgbClr val="00D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" name="Google Shape;39;p4"/>
          <p:cNvSpPr/>
          <p:nvPr>
            <p:custDataLst>
              <p:tags r:id="rId7"/>
            </p:custDataLst>
          </p:nvPr>
        </p:nvSpPr>
        <p:spPr>
          <a:xfrm>
            <a:off x="4846320" y="1572768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Our Approach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>
            <p:custDataLst>
              <p:tags r:id="rId8"/>
            </p:custDataLst>
          </p:nvPr>
        </p:nvSpPr>
        <p:spPr>
          <a:xfrm>
            <a:off x="4846320" y="1995805"/>
            <a:ext cx="3657600" cy="2068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 eaLnBrk="1" fontAlgn="auto" latinLnBrk="0" hangingPunct="1">
              <a:spcBef>
                <a:spcPts val="0"/>
              </a:spcBef>
              <a:spcAft>
                <a:spcPts val="800"/>
              </a:spcAft>
              <a:buClr>
                <a:srgbClr val="E2E8F0"/>
              </a:buClr>
              <a:buSzPts val="1250"/>
              <a:buFont typeface="Calibri"/>
              <a:buChar char="•"/>
            </a:pPr>
            <a:r>
              <a:rPr lang="en-US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Train 4 ML models on 23 engineered network flow statistics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 eaLnBrk="1" fontAlgn="auto" latinLnBrk="0" hangingPunct="1">
              <a:spcBef>
                <a:spcPts val="0"/>
              </a:spcBef>
              <a:spcAft>
                <a:spcPts val="800"/>
              </a:spcAft>
              <a:buClr>
                <a:srgbClr val="E2E8F0"/>
              </a:buClr>
              <a:buSzPts val="1250"/>
              <a:buFont typeface="Calibri"/>
              <a:buChar char="•"/>
            </a:pPr>
            <a:r>
              <a:rPr lang="en-US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Binary detection: attack (0) vs normal (1)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 eaLnBrk="1" fontAlgn="auto" latinLnBrk="0" hangingPunct="1">
              <a:spcBef>
                <a:spcPts val="0"/>
              </a:spcBef>
              <a:spcAft>
                <a:spcPts val="800"/>
              </a:spcAft>
              <a:buClr>
                <a:srgbClr val="E2E8F0"/>
              </a:buClr>
              <a:buSzPts val="1250"/>
              <a:buFont typeface="Calibri"/>
              <a:buChar char="•"/>
            </a:pPr>
            <a:r>
              <a:rPr lang="en-US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Multiclass: identify botnet family &amp; attack subtype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 eaLnBrk="1" fontAlgn="auto" latinLnBrk="0" hangingPunct="1">
              <a:spcBef>
                <a:spcPts val="0"/>
              </a:spcBef>
              <a:spcAft>
                <a:spcPts val="800"/>
              </a:spcAft>
              <a:buClr>
                <a:srgbClr val="E2E8F0"/>
              </a:buClr>
              <a:buSzPts val="1250"/>
              <a:buFont typeface="Calibri"/>
              <a:buChar char="•"/>
            </a:pPr>
            <a:r>
              <a:rPr lang="en-US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Evaluate feature importance, device generalization, and inference latency</a:t>
            </a:r>
            <a:endParaRPr lang="en-US" b="0" i="0" u="none" strike="noStrike" cap="none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02 — DATASET &amp; EDA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502920" y="502920"/>
            <a:ext cx="8138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BoTNeTIoT-L01 Dataset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365760" y="1417320"/>
            <a:ext cx="1572768" cy="1143000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" name="Google Shape;49;p5"/>
          <p:cNvSpPr/>
          <p:nvPr/>
        </p:nvSpPr>
        <p:spPr>
          <a:xfrm>
            <a:off x="365760" y="1417320"/>
            <a:ext cx="1572768" cy="36576"/>
          </a:xfrm>
          <a:prstGeom prst="rect">
            <a:avLst/>
          </a:prstGeom>
          <a:solidFill>
            <a:srgbClr val="00D4FF"/>
          </a:solidFill>
          <a:ln w="12700" cap="flat" cmpd="sng">
            <a:solidFill>
              <a:srgbClr val="00D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" name="Google Shape;50;p5"/>
          <p:cNvSpPr/>
          <p:nvPr/>
        </p:nvSpPr>
        <p:spPr>
          <a:xfrm>
            <a:off x="475488" y="1618488"/>
            <a:ext cx="13533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300K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457200" y="2075688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Dataset 1 rows (sample)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2066544" y="1417320"/>
            <a:ext cx="1572768" cy="1143000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" name="Google Shape;53;p5"/>
          <p:cNvSpPr/>
          <p:nvPr/>
        </p:nvSpPr>
        <p:spPr>
          <a:xfrm>
            <a:off x="2066544" y="1417320"/>
            <a:ext cx="1572768" cy="36576"/>
          </a:xfrm>
          <a:prstGeom prst="rect">
            <a:avLst/>
          </a:prstGeom>
          <a:solidFill>
            <a:srgbClr val="00E596"/>
          </a:solidFill>
          <a:ln w="12700" cap="flat" cmpd="sng">
            <a:solidFill>
              <a:srgbClr val="00E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" name="Google Shape;54;p5"/>
          <p:cNvSpPr/>
          <p:nvPr/>
        </p:nvSpPr>
        <p:spPr>
          <a:xfrm>
            <a:off x="2176272" y="1618488"/>
            <a:ext cx="13533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596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00E596"/>
                </a:solidFill>
                <a:latin typeface="Calibri"/>
                <a:ea typeface="Calibri"/>
                <a:cs typeface="Calibri"/>
                <a:sym typeface="Calibri"/>
              </a:rPr>
              <a:t>400K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2157984" y="2075688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Dataset 2 rows (sample)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3767328" y="1417320"/>
            <a:ext cx="1572768" cy="1143000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7" name="Google Shape;57;p5"/>
          <p:cNvSpPr/>
          <p:nvPr/>
        </p:nvSpPr>
        <p:spPr>
          <a:xfrm>
            <a:off x="3767328" y="1417320"/>
            <a:ext cx="1572768" cy="36576"/>
          </a:xfrm>
          <a:prstGeom prst="rect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" name="Google Shape;58;p5"/>
          <p:cNvSpPr/>
          <p:nvPr/>
        </p:nvSpPr>
        <p:spPr>
          <a:xfrm>
            <a:off x="3877056" y="1618488"/>
            <a:ext cx="13533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3858768" y="2075688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Features used (4 pruned)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468112" y="1417320"/>
            <a:ext cx="1572768" cy="1143000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" name="Google Shape;61;p5"/>
          <p:cNvSpPr/>
          <p:nvPr/>
        </p:nvSpPr>
        <p:spPr>
          <a:xfrm>
            <a:off x="5468112" y="1417320"/>
            <a:ext cx="1572768" cy="36576"/>
          </a:xfrm>
          <a:prstGeom prst="rect">
            <a:avLst/>
          </a:prstGeom>
          <a:solidFill>
            <a:srgbClr val="FF9F43"/>
          </a:solidFill>
          <a:ln w="12700" cap="flat" cmpd="sng">
            <a:solidFill>
              <a:srgbClr val="FF9F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" name="Google Shape;62;p5"/>
          <p:cNvSpPr/>
          <p:nvPr/>
        </p:nvSpPr>
        <p:spPr>
          <a:xfrm>
            <a:off x="5577840" y="1618488"/>
            <a:ext cx="13533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9F43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559552" y="2075688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IoT Device types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7168896" y="1417320"/>
            <a:ext cx="1572768" cy="1143000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5" name="Google Shape;65;p5"/>
          <p:cNvSpPr/>
          <p:nvPr/>
        </p:nvSpPr>
        <p:spPr>
          <a:xfrm>
            <a:off x="7168896" y="1417320"/>
            <a:ext cx="1572768" cy="36576"/>
          </a:xfrm>
          <a:prstGeom prst="rect">
            <a:avLst/>
          </a:prstGeom>
          <a:solidFill>
            <a:srgbClr val="FF4D6D"/>
          </a:solidFill>
          <a:ln w="12700" cap="flat" cmpd="sng">
            <a:solidFill>
              <a:srgbClr val="FF4D6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6" name="Google Shape;66;p5"/>
          <p:cNvSpPr/>
          <p:nvPr/>
        </p:nvSpPr>
        <p:spPr>
          <a:xfrm>
            <a:off x="7278624" y="1618488"/>
            <a:ext cx="13533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4D6D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4D6D"/>
                </a:solidFill>
                <a:latin typeface="Calibri"/>
                <a:ea typeface="Calibri"/>
                <a:cs typeface="Calibri"/>
                <a:sym typeface="Calibri"/>
              </a:rPr>
              <a:t>78.8%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7260336" y="2075688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Attack rate (Dataset 1)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365760" y="272491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Class Imbalance (Dataset 1 sample)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65760" y="3054477"/>
            <a:ext cx="3931920" cy="181051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"/>
          <p:cNvSpPr/>
          <p:nvPr/>
        </p:nvSpPr>
        <p:spPr>
          <a:xfrm>
            <a:off x="4663440" y="2742438"/>
            <a:ext cx="4114800" cy="2194560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1" name="Google Shape;71;p5"/>
          <p:cNvSpPr/>
          <p:nvPr/>
        </p:nvSpPr>
        <p:spPr>
          <a:xfrm>
            <a:off x="4663440" y="2742438"/>
            <a:ext cx="4114800" cy="36576"/>
          </a:xfrm>
          <a:prstGeom prst="rect">
            <a:avLst/>
          </a:prstGeom>
          <a:solidFill>
            <a:srgbClr val="00D4FF"/>
          </a:solidFill>
          <a:ln w="12700" cap="flat" cmpd="sng">
            <a:solidFill>
              <a:srgbClr val="00D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" name="Google Shape;72;p5"/>
          <p:cNvSpPr/>
          <p:nvPr/>
        </p:nvSpPr>
        <p:spPr>
          <a:xfrm>
            <a:off x="4846320" y="288874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Key EDA Findings -&gt; Pipeline Rationale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846320" y="3291840"/>
            <a:ext cx="3749040" cy="1450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 eaLnBrk="1" fontAlgn="auto" latinLnBrk="0" hangingPunct="1">
              <a:spcBef>
                <a:spcPts val="0"/>
              </a:spcBef>
              <a:spcAft>
                <a:spcPts val="600"/>
              </a:spcAft>
              <a:buClr>
                <a:srgbClr val="E2E8F0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0 missing values in both datasets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 eaLnBrk="1" fontAlgn="auto" latinLnBrk="0" hangingPunct="1">
              <a:spcBef>
                <a:spcPts val="0"/>
              </a:spcBef>
              <a:spcAft>
                <a:spcPts val="600"/>
              </a:spcAft>
              <a:buClr>
                <a:srgbClr val="E2E8F0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4 features perfectly correlated (r=1.00) → removed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 eaLnBrk="1" fontAlgn="auto" latinLnBrk="0" hangingPunct="1">
              <a:spcBef>
                <a:spcPts val="0"/>
              </a:spcBef>
              <a:spcAft>
                <a:spcPts val="600"/>
              </a:spcAft>
              <a:buClr>
                <a:srgbClr val="E2E8F0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12 features highly skewed → log1p applied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 eaLnBrk="1" fontAlgn="auto" latinLnBrk="0" hangingPunct="1">
              <a:spcBef>
                <a:spcPts val="0"/>
              </a:spcBef>
              <a:spcAft>
                <a:spcPts val="600"/>
              </a:spcAft>
              <a:buClr>
                <a:srgbClr val="E2E8F0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2 botnet families: Mirai + Gafgyt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 eaLnBrk="1" fontAlgn="auto" latinLnBrk="0" hangingPunct="1">
              <a:spcBef>
                <a:spcPts val="0"/>
              </a:spcBef>
              <a:spcAft>
                <a:spcPts val="600"/>
              </a:spcAft>
              <a:buClr>
                <a:srgbClr val="E2E8F0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9 attack subtypes incl. UDP, TCP, SYN, ACK…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03 — PREPROCESSING PIPELINE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502920" y="502920"/>
            <a:ext cx="8138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EDA-Driven Preprocessing Choices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281305" y="1414780"/>
            <a:ext cx="4160520" cy="1417320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6"/>
          <p:cNvSpPr/>
          <p:nvPr/>
        </p:nvSpPr>
        <p:spPr>
          <a:xfrm>
            <a:off x="281305" y="1414780"/>
            <a:ext cx="4160520" cy="36576"/>
          </a:xfrm>
          <a:prstGeom prst="rect">
            <a:avLst/>
          </a:prstGeom>
          <a:solidFill>
            <a:srgbClr val="00D4FF"/>
          </a:solidFill>
          <a:ln w="12700" cap="flat" cmpd="sng">
            <a:solidFill>
              <a:srgbClr val="00D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" name="Google Shape;83;p6"/>
          <p:cNvSpPr/>
          <p:nvPr/>
        </p:nvSpPr>
        <p:spPr>
          <a:xfrm>
            <a:off x="418465" y="1579372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939673" y="1591437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Drop Redundant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418465" y="2036572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Remove 4 perfectly correlated features (r=1.00). 23 → 19 features.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716145" y="1414780"/>
            <a:ext cx="4160520" cy="1417320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" name="Google Shape;87;p6"/>
          <p:cNvSpPr/>
          <p:nvPr/>
        </p:nvSpPr>
        <p:spPr>
          <a:xfrm>
            <a:off x="4716145" y="1414780"/>
            <a:ext cx="4160520" cy="36576"/>
          </a:xfrm>
          <a:prstGeom prst="rect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8" name="Google Shape;88;p6"/>
          <p:cNvSpPr/>
          <p:nvPr/>
        </p:nvSpPr>
        <p:spPr>
          <a:xfrm>
            <a:off x="4853305" y="1579372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374513" y="1591437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Log1p Transform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853305" y="2036572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Apply log1p(|x|) to 12 highly skewed features to normalize distributions.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281305" y="2969260"/>
            <a:ext cx="4160520" cy="1417320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6"/>
          <p:cNvSpPr/>
          <p:nvPr/>
        </p:nvSpPr>
        <p:spPr>
          <a:xfrm>
            <a:off x="281305" y="2969260"/>
            <a:ext cx="4160520" cy="36576"/>
          </a:xfrm>
          <a:prstGeom prst="rect">
            <a:avLst/>
          </a:prstGeom>
          <a:solidFill>
            <a:srgbClr val="00E596"/>
          </a:solidFill>
          <a:ln w="12700" cap="flat" cmpd="sng">
            <a:solidFill>
              <a:srgbClr val="00E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" name="Google Shape;93;p6"/>
          <p:cNvSpPr/>
          <p:nvPr/>
        </p:nvSpPr>
        <p:spPr>
          <a:xfrm>
            <a:off x="418465" y="3133852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596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00E59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939673" y="3145917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Standardize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418465" y="3591052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Fit StandardScaler on training data only. Apply to val + test to prevent data leakage.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716145" y="2969260"/>
            <a:ext cx="4160520" cy="1417320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6"/>
          <p:cNvSpPr/>
          <p:nvPr/>
        </p:nvSpPr>
        <p:spPr>
          <a:xfrm>
            <a:off x="4716145" y="2969260"/>
            <a:ext cx="4160520" cy="36576"/>
          </a:xfrm>
          <a:prstGeom prst="rect">
            <a:avLst/>
          </a:prstGeom>
          <a:solidFill>
            <a:srgbClr val="FF9F43"/>
          </a:solidFill>
          <a:ln w="12700" cap="flat" cmpd="sng">
            <a:solidFill>
              <a:srgbClr val="FF9F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" name="Google Shape;98;p6"/>
          <p:cNvSpPr/>
          <p:nvPr/>
        </p:nvSpPr>
        <p:spPr>
          <a:xfrm>
            <a:off x="4853305" y="3133852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F43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5374513" y="3145917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Stratified Split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853305" y="3591052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70% train / 15% val / 15% test. Stratified by label to preserve class ratios.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6"/>
          <p:cNvCxnSpPr/>
          <p:nvPr/>
        </p:nvCxnSpPr>
        <p:spPr>
          <a:xfrm>
            <a:off x="1835785" y="2146300"/>
            <a:ext cx="0" cy="228600"/>
          </a:xfrm>
          <a:prstGeom prst="straightConnector1">
            <a:avLst/>
          </a:prstGeom>
          <a:noFill/>
          <a:ln w="19050" cap="flat" cmpd="sng">
            <a:solidFill>
              <a:srgbClr val="1E2D4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02" name="Google Shape;102;p6"/>
          <p:cNvCxnSpPr/>
          <p:nvPr/>
        </p:nvCxnSpPr>
        <p:spPr>
          <a:xfrm>
            <a:off x="6270625" y="2146300"/>
            <a:ext cx="0" cy="228600"/>
          </a:xfrm>
          <a:prstGeom prst="straightConnector1">
            <a:avLst/>
          </a:prstGeom>
          <a:noFill/>
          <a:ln w="19050" cap="flat" cmpd="sng">
            <a:solidFill>
              <a:srgbClr val="1E2D45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03" name="Google Shape;103;p6"/>
          <p:cNvCxnSpPr/>
          <p:nvPr/>
        </p:nvCxnSpPr>
        <p:spPr>
          <a:xfrm>
            <a:off x="1835785" y="3700780"/>
            <a:ext cx="0" cy="228600"/>
          </a:xfrm>
          <a:prstGeom prst="straightConnector1">
            <a:avLst/>
          </a:prstGeom>
          <a:noFill/>
          <a:ln w="19050" cap="flat" cmpd="sng">
            <a:solidFill>
              <a:srgbClr val="1E2D45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04 — BINARY CLASSIFICATION RESULTS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502920" y="502920"/>
            <a:ext cx="8138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Attack vs Normal — All 4 Models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365760" y="1371600"/>
            <a:ext cx="1920240" cy="1005840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7"/>
          <p:cNvSpPr/>
          <p:nvPr/>
        </p:nvSpPr>
        <p:spPr>
          <a:xfrm>
            <a:off x="365760" y="1371600"/>
            <a:ext cx="1920240" cy="36576"/>
          </a:xfrm>
          <a:prstGeom prst="rect">
            <a:avLst/>
          </a:prstGeom>
          <a:solidFill>
            <a:srgbClr val="00E596"/>
          </a:solidFill>
          <a:ln w="12700" cap="flat" cmpd="sng">
            <a:solidFill>
              <a:srgbClr val="00E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7"/>
          <p:cNvSpPr/>
          <p:nvPr/>
        </p:nvSpPr>
        <p:spPr>
          <a:xfrm>
            <a:off x="475488" y="1572768"/>
            <a:ext cx="17007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596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00E596"/>
                </a:solidFill>
                <a:latin typeface="Calibri"/>
                <a:ea typeface="Calibri"/>
                <a:cs typeface="Calibri"/>
                <a:sym typeface="Calibri"/>
              </a:rPr>
              <a:t>0.9998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457200" y="202996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Best F1-Macro (RF)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2423160" y="1371600"/>
            <a:ext cx="1920240" cy="1005840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6" name="Google Shape;116;p7"/>
          <p:cNvSpPr/>
          <p:nvPr/>
        </p:nvSpPr>
        <p:spPr>
          <a:xfrm>
            <a:off x="2423160" y="1371600"/>
            <a:ext cx="1920240" cy="36576"/>
          </a:xfrm>
          <a:prstGeom prst="rect">
            <a:avLst/>
          </a:prstGeom>
          <a:solidFill>
            <a:srgbClr val="00D4FF"/>
          </a:solidFill>
          <a:ln w="12700" cap="flat" cmpd="sng">
            <a:solidFill>
              <a:srgbClr val="00D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7" name="Google Shape;117;p7"/>
          <p:cNvSpPr/>
          <p:nvPr/>
        </p:nvSpPr>
        <p:spPr>
          <a:xfrm>
            <a:off x="2532888" y="1572768"/>
            <a:ext cx="17007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1.0000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2514600" y="202996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Best AUC-ROC (RF/HGB/MLP)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4480560" y="1371600"/>
            <a:ext cx="1920240" cy="1005840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0" name="Google Shape;120;p7"/>
          <p:cNvSpPr/>
          <p:nvPr/>
        </p:nvSpPr>
        <p:spPr>
          <a:xfrm>
            <a:off x="4480560" y="1371600"/>
            <a:ext cx="1920240" cy="36576"/>
          </a:xfrm>
          <a:prstGeom prst="rect">
            <a:avLst/>
          </a:prstGeom>
          <a:solidFill>
            <a:srgbClr val="FF9F43"/>
          </a:solidFill>
          <a:ln w="12700" cap="flat" cmpd="sng">
            <a:solidFill>
              <a:srgbClr val="FF9F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1" name="Google Shape;121;p7"/>
          <p:cNvSpPr/>
          <p:nvPr/>
        </p:nvSpPr>
        <p:spPr>
          <a:xfrm>
            <a:off x="4590288" y="1572768"/>
            <a:ext cx="17007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9F43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0.58μs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572000" y="202996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Fastest Latency (LogReg)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537960" y="1371600"/>
            <a:ext cx="1920240" cy="1005840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" name="Google Shape;124;p7"/>
          <p:cNvSpPr/>
          <p:nvPr/>
        </p:nvSpPr>
        <p:spPr>
          <a:xfrm>
            <a:off x="6537960" y="1371600"/>
            <a:ext cx="1920240" cy="36576"/>
          </a:xfrm>
          <a:prstGeom prst="rect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5" name="Google Shape;125;p7"/>
          <p:cNvSpPr/>
          <p:nvPr/>
        </p:nvSpPr>
        <p:spPr>
          <a:xfrm>
            <a:off x="6647688" y="1572768"/>
            <a:ext cx="17007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5.66μs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6629400" y="202996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MLP Latency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7" name="Google Shape;127;p7"/>
          <p:cNvGraphicFramePr/>
          <p:nvPr/>
        </p:nvGraphicFramePr>
        <p:xfrm>
          <a:off x="365760" y="2571750"/>
          <a:ext cx="8471535" cy="2301875"/>
        </p:xfrm>
        <a:graphic>
          <a:graphicData uri="http://schemas.openxmlformats.org/drawingml/2006/table">
            <a:tbl>
              <a:tblPr>
                <a:noFill/>
                <a:tableStyleId>{EA8ED157-B24D-4143-8661-92E45FDAB6E2}</a:tableStyleId>
              </a:tblPr>
              <a:tblGrid>
                <a:gridCol w="1310005"/>
                <a:gridCol w="1440815"/>
                <a:gridCol w="1440815"/>
                <a:gridCol w="1441450"/>
                <a:gridCol w="1441450"/>
                <a:gridCol w="1397000"/>
              </a:tblGrid>
              <a:tr h="460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6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F1-Attack(0)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6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F1-Normal(1)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6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F1-Macro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6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AUC-ROC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6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Latency (μs)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625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D4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00D4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LogReg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0.9996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0.9984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0.9990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0.9999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E59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0E5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0.577 ⚡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9F4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F9F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E59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0E5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0.9999 ★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E59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0E5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0.9997 ★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E59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0E5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0.9998 ★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E59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0E5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1.0000 ★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4D6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F4D6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45.43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78BF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A78BF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HGB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E59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0E5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0.9999 ★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0.9996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0.9997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E59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0E5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1.0000 ★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15.34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4D6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FF4D6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MLP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0.9997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0.9989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0.9993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E59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0E5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1.0000 ★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5.66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05 — LATENCY VS ACCURACY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502920" y="502920"/>
            <a:ext cx="8138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Which Model is Best for Real-Time IDS?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365760" y="141732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F1-Macro by Model (test set)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65760" y="1691640"/>
            <a:ext cx="402336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8"/>
          <p:cNvSpPr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Inference Latency μs/sample (lower = faster)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754880" y="1691640"/>
            <a:ext cx="402336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8"/>
          <p:cNvSpPr/>
          <p:nvPr/>
        </p:nvSpPr>
        <p:spPr>
          <a:xfrm>
            <a:off x="365760" y="4187952"/>
            <a:ext cx="8412480" cy="713232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8"/>
          <p:cNvSpPr/>
          <p:nvPr/>
        </p:nvSpPr>
        <p:spPr>
          <a:xfrm>
            <a:off x="365760" y="4187952"/>
            <a:ext cx="8412480" cy="36576"/>
          </a:xfrm>
          <a:prstGeom prst="rect">
            <a:avLst/>
          </a:prstGeom>
          <a:solidFill>
            <a:srgbClr val="00E596"/>
          </a:solidFill>
          <a:ln w="12700" cap="flat" cmpd="sng">
            <a:solidFill>
              <a:srgbClr val="00E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1" name="Google Shape;141;p8"/>
          <p:cNvSpPr/>
          <p:nvPr/>
        </p:nvSpPr>
        <p:spPr>
          <a:xfrm>
            <a:off x="548640" y="431596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★  Recommendation: MLP offers the best balance — F1-Macro 0.9993 at 5.66 μs/sample (8× faster than RF, 0.0005 lower F1). LogReg at 0.58μs is ideal for ultra-low-latency edge deployment.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06 — MULTICLASS CLASSIFICATION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502920" y="502920"/>
            <a:ext cx="8138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Attack Family &amp; Subtype Identification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277495" y="1417320"/>
            <a:ext cx="4114800" cy="3470910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0" name="Google Shape;150;p9"/>
          <p:cNvSpPr/>
          <p:nvPr/>
        </p:nvSpPr>
        <p:spPr>
          <a:xfrm>
            <a:off x="277495" y="1417320"/>
            <a:ext cx="4114800" cy="36576"/>
          </a:xfrm>
          <a:prstGeom prst="rect">
            <a:avLst/>
          </a:prstGeom>
          <a:solidFill>
            <a:srgbClr val="00D4FF"/>
          </a:solidFill>
          <a:ln w="12700" cap="flat" cmpd="sng">
            <a:solidFill>
              <a:srgbClr val="00D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" name="Google Shape;151;p9"/>
          <p:cNvSpPr/>
          <p:nvPr/>
        </p:nvSpPr>
        <p:spPr>
          <a:xfrm>
            <a:off x="460375" y="1572768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3-Class: Normal / Mirai / Gafgyt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460375" y="21031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Normal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1786255" y="2112010"/>
            <a:ext cx="2555240" cy="310515"/>
          </a:xfrm>
          <a:prstGeom prst="rect">
            <a:avLst/>
          </a:prstGeom>
          <a:solidFill>
            <a:srgbClr val="1E2D45"/>
          </a:solidFill>
          <a:ln w="12700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4" name="Google Shape;154;p9"/>
          <p:cNvSpPr/>
          <p:nvPr/>
        </p:nvSpPr>
        <p:spPr>
          <a:xfrm>
            <a:off x="1127760" y="2157984"/>
            <a:ext cx="2377440" cy="219456"/>
          </a:xfrm>
          <a:prstGeom prst="rect">
            <a:avLst/>
          </a:prstGeom>
          <a:solidFill>
            <a:srgbClr val="00E596"/>
          </a:solidFill>
          <a:ln w="12700" cap="flat" cmpd="sng">
            <a:solidFill>
              <a:srgbClr val="00E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5" name="Google Shape;155;p9"/>
          <p:cNvSpPr/>
          <p:nvPr/>
        </p:nvSpPr>
        <p:spPr>
          <a:xfrm>
            <a:off x="3569208" y="2103120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596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E596"/>
                </a:solidFill>
                <a:latin typeface="Calibri"/>
                <a:ea typeface="Calibri"/>
                <a:cs typeface="Calibri"/>
                <a:sym typeface="Calibri"/>
              </a:rPr>
              <a:t>F1 = 1.000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460375" y="285292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Mirai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1786255" y="2861945"/>
            <a:ext cx="2555240" cy="310515"/>
          </a:xfrm>
          <a:prstGeom prst="rect">
            <a:avLst/>
          </a:prstGeom>
          <a:solidFill>
            <a:srgbClr val="1E2D45"/>
          </a:solidFill>
          <a:ln w="12700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8" name="Google Shape;158;p9"/>
          <p:cNvSpPr/>
          <p:nvPr/>
        </p:nvSpPr>
        <p:spPr>
          <a:xfrm>
            <a:off x="1127760" y="2907792"/>
            <a:ext cx="2377440" cy="219456"/>
          </a:xfrm>
          <a:prstGeom prst="rect">
            <a:avLst/>
          </a:prstGeom>
          <a:solidFill>
            <a:srgbClr val="00E596"/>
          </a:solidFill>
          <a:ln w="12700" cap="flat" cmpd="sng">
            <a:solidFill>
              <a:srgbClr val="00E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9" name="Google Shape;159;p9"/>
          <p:cNvSpPr/>
          <p:nvPr/>
        </p:nvSpPr>
        <p:spPr>
          <a:xfrm>
            <a:off x="3569208" y="2852928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596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E596"/>
                </a:solidFill>
                <a:latin typeface="Calibri"/>
                <a:ea typeface="Calibri"/>
                <a:cs typeface="Calibri"/>
                <a:sym typeface="Calibri"/>
              </a:rPr>
              <a:t>F1 = 1.000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460375" y="3602736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Gafgyt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1786255" y="3611880"/>
            <a:ext cx="2555240" cy="310515"/>
          </a:xfrm>
          <a:prstGeom prst="rect">
            <a:avLst/>
          </a:prstGeom>
          <a:solidFill>
            <a:srgbClr val="1E2D45"/>
          </a:solidFill>
          <a:ln w="12700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2" name="Google Shape;162;p9"/>
          <p:cNvSpPr/>
          <p:nvPr/>
        </p:nvSpPr>
        <p:spPr>
          <a:xfrm>
            <a:off x="1127760" y="3657600"/>
            <a:ext cx="2377440" cy="219456"/>
          </a:xfrm>
          <a:prstGeom prst="rect">
            <a:avLst/>
          </a:prstGeom>
          <a:solidFill>
            <a:srgbClr val="00E596"/>
          </a:solidFill>
          <a:ln w="12700" cap="flat" cmpd="sng">
            <a:solidFill>
              <a:srgbClr val="00E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9"/>
          <p:cNvSpPr/>
          <p:nvPr/>
        </p:nvSpPr>
        <p:spPr>
          <a:xfrm>
            <a:off x="3569208" y="3602736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596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E596"/>
                </a:solidFill>
                <a:latin typeface="Calibri"/>
                <a:ea typeface="Calibri"/>
                <a:cs typeface="Calibri"/>
                <a:sym typeface="Calibri"/>
              </a:rPr>
              <a:t>F1 = 1.000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460375" y="430022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Near-perfect separation on this in-distribution benchmark sample; results should be interpreted as strong dataset separability rather than guaranteed field performance.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4575175" y="1417320"/>
            <a:ext cx="4114800" cy="3470910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6" name="Google Shape;166;p9"/>
          <p:cNvSpPr/>
          <p:nvPr/>
        </p:nvSpPr>
        <p:spPr>
          <a:xfrm>
            <a:off x="4575175" y="1417320"/>
            <a:ext cx="4114800" cy="36576"/>
          </a:xfrm>
          <a:prstGeom prst="rect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7" name="Google Shape;167;p9"/>
          <p:cNvSpPr/>
          <p:nvPr/>
        </p:nvSpPr>
        <p:spPr>
          <a:xfrm>
            <a:off x="4758055" y="1572768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9-Class: Attack Subtypes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4758055" y="1923923"/>
            <a:ext cx="1234440" cy="658368"/>
          </a:xfrm>
          <a:prstGeom prst="rect">
            <a:avLst/>
          </a:prstGeom>
          <a:solidFill>
            <a:srgbClr val="111827"/>
          </a:solidFill>
          <a:ln w="9525" cap="flat" cmpd="sng">
            <a:solidFill>
              <a:srgbClr val="00E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9" name="Google Shape;169;p9"/>
          <p:cNvSpPr/>
          <p:nvPr/>
        </p:nvSpPr>
        <p:spPr>
          <a:xfrm>
            <a:off x="4803775" y="1978787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Normal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4803775" y="2253107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59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E596"/>
                </a:solidFill>
                <a:latin typeface="Calibri"/>
                <a:ea typeface="Calibri"/>
                <a:cs typeface="Calibri"/>
                <a:sym typeface="Calibri"/>
              </a:rPr>
              <a:t>1.000 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6083935" y="1923923"/>
            <a:ext cx="1234440" cy="658368"/>
          </a:xfrm>
          <a:prstGeom prst="rect">
            <a:avLst/>
          </a:prstGeom>
          <a:solidFill>
            <a:srgbClr val="111827"/>
          </a:solidFill>
          <a:ln w="9525" cap="flat" cmpd="sng">
            <a:solidFill>
              <a:srgbClr val="00E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2" name="Google Shape;172;p9"/>
          <p:cNvSpPr/>
          <p:nvPr/>
        </p:nvSpPr>
        <p:spPr>
          <a:xfrm>
            <a:off x="6129655" y="1978787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ACK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6129655" y="2253107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59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E596"/>
                </a:solidFill>
                <a:latin typeface="Calibri"/>
                <a:ea typeface="Calibri"/>
                <a:cs typeface="Calibri"/>
                <a:sym typeface="Calibri"/>
              </a:rPr>
              <a:t>1.000 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7409815" y="1923923"/>
            <a:ext cx="1234440" cy="658368"/>
          </a:xfrm>
          <a:prstGeom prst="rect">
            <a:avLst/>
          </a:prstGeom>
          <a:solidFill>
            <a:srgbClr val="111827"/>
          </a:solidFill>
          <a:ln w="9525" cap="flat" cmpd="sng">
            <a:solidFill>
              <a:srgbClr val="00E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5" name="Google Shape;175;p9"/>
          <p:cNvSpPr/>
          <p:nvPr/>
        </p:nvSpPr>
        <p:spPr>
          <a:xfrm>
            <a:off x="7455535" y="1978787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Combo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7455535" y="2253107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59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E596"/>
                </a:solidFill>
                <a:latin typeface="Calibri"/>
                <a:ea typeface="Calibri"/>
                <a:cs typeface="Calibri"/>
                <a:sym typeface="Calibri"/>
              </a:rPr>
              <a:t>1.000 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4758055" y="2746883"/>
            <a:ext cx="1234440" cy="658368"/>
          </a:xfrm>
          <a:prstGeom prst="rect">
            <a:avLst/>
          </a:prstGeom>
          <a:solidFill>
            <a:srgbClr val="111827"/>
          </a:solidFill>
          <a:ln w="9525" cap="flat" cmpd="sng">
            <a:solidFill>
              <a:srgbClr val="00E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8" name="Google Shape;178;p9"/>
          <p:cNvSpPr/>
          <p:nvPr/>
        </p:nvSpPr>
        <p:spPr>
          <a:xfrm>
            <a:off x="4803775" y="2801747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Junk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4803775" y="3076067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59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E596"/>
                </a:solidFill>
                <a:latin typeface="Calibri"/>
                <a:ea typeface="Calibri"/>
                <a:cs typeface="Calibri"/>
                <a:sym typeface="Calibri"/>
              </a:rPr>
              <a:t>1.000 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6083935" y="2746883"/>
            <a:ext cx="1234440" cy="658368"/>
          </a:xfrm>
          <a:prstGeom prst="rect">
            <a:avLst/>
          </a:prstGeom>
          <a:solidFill>
            <a:srgbClr val="111827"/>
          </a:solidFill>
          <a:ln w="9525" cap="flat" cmpd="sng">
            <a:solidFill>
              <a:srgbClr val="00E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" name="Google Shape;181;p9"/>
          <p:cNvSpPr/>
          <p:nvPr/>
        </p:nvSpPr>
        <p:spPr>
          <a:xfrm>
            <a:off x="6129655" y="2801747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Scan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6129655" y="3076067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59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E596"/>
                </a:solidFill>
                <a:latin typeface="Calibri"/>
                <a:ea typeface="Calibri"/>
                <a:cs typeface="Calibri"/>
                <a:sym typeface="Calibri"/>
              </a:rPr>
              <a:t>1.000 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7409815" y="2746883"/>
            <a:ext cx="1234440" cy="658368"/>
          </a:xfrm>
          <a:prstGeom prst="rect">
            <a:avLst/>
          </a:prstGeom>
          <a:solidFill>
            <a:srgbClr val="111827"/>
          </a:solidFill>
          <a:ln w="9525" cap="flat" cmpd="sng">
            <a:solidFill>
              <a:srgbClr val="00E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4" name="Google Shape;184;p9"/>
          <p:cNvSpPr/>
          <p:nvPr/>
        </p:nvSpPr>
        <p:spPr>
          <a:xfrm>
            <a:off x="7455535" y="2801747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SYN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7455535" y="3076067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59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E596"/>
                </a:solidFill>
                <a:latin typeface="Calibri"/>
                <a:ea typeface="Calibri"/>
                <a:cs typeface="Calibri"/>
                <a:sym typeface="Calibri"/>
              </a:rPr>
              <a:t>1.000 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4758055" y="3569843"/>
            <a:ext cx="1234440" cy="658368"/>
          </a:xfrm>
          <a:prstGeom prst="rect">
            <a:avLst/>
          </a:prstGeom>
          <a:solidFill>
            <a:srgbClr val="111827"/>
          </a:solidFill>
          <a:ln w="9525" cap="flat" cmpd="sng">
            <a:solidFill>
              <a:srgbClr val="FF9F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7" name="Google Shape;187;p9"/>
          <p:cNvSpPr/>
          <p:nvPr/>
        </p:nvSpPr>
        <p:spPr>
          <a:xfrm>
            <a:off x="4803775" y="3624707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803775" y="3899027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9F43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0.99 ⚠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6083935" y="3569843"/>
            <a:ext cx="1234440" cy="658368"/>
          </a:xfrm>
          <a:prstGeom prst="rect">
            <a:avLst/>
          </a:prstGeom>
          <a:solidFill>
            <a:srgbClr val="111827"/>
          </a:solidFill>
          <a:ln w="9525" cap="flat" cmpd="sng">
            <a:solidFill>
              <a:srgbClr val="00E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" name="Google Shape;190;p9"/>
          <p:cNvSpPr/>
          <p:nvPr/>
        </p:nvSpPr>
        <p:spPr>
          <a:xfrm>
            <a:off x="6129655" y="3624707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UDP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6129655" y="3899027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59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E596"/>
                </a:solidFill>
                <a:latin typeface="Calibri"/>
                <a:ea typeface="Calibri"/>
                <a:cs typeface="Calibri"/>
                <a:sym typeface="Calibri"/>
              </a:rPr>
              <a:t>1.000 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7409815" y="3569843"/>
            <a:ext cx="1234440" cy="658368"/>
          </a:xfrm>
          <a:prstGeom prst="rect">
            <a:avLst/>
          </a:prstGeom>
          <a:solidFill>
            <a:srgbClr val="111827"/>
          </a:solidFill>
          <a:ln w="9525" cap="flat" cmpd="sng">
            <a:solidFill>
              <a:srgbClr val="00E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3" name="Google Shape;193;p9"/>
          <p:cNvSpPr/>
          <p:nvPr/>
        </p:nvSpPr>
        <p:spPr>
          <a:xfrm>
            <a:off x="7455535" y="3624707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UDPPlain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7455535" y="3899027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E59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E596"/>
                </a:solidFill>
                <a:latin typeface="Calibri"/>
                <a:ea typeface="Calibri"/>
                <a:cs typeface="Calibri"/>
                <a:sym typeface="Calibri"/>
              </a:rPr>
              <a:t>1.000 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4758055" y="4371975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Only TCP precision drops slightly to 0.99; the remaining subtype scores are near-perfect on this sampled benchmark split.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07 — FEATURE IMPORTANCE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502920" y="502920"/>
            <a:ext cx="8138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Which Network Stats Matter Most?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365760" y="14173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Random Forest — Mean Decrease Impurity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1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65760" y="1691640"/>
            <a:ext cx="530352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0"/>
          <p:cNvSpPr/>
          <p:nvPr/>
        </p:nvSpPr>
        <p:spPr>
          <a:xfrm>
            <a:off x="5897880" y="1417320"/>
            <a:ext cx="2880360" cy="1481455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6" name="Google Shape;206;p10"/>
          <p:cNvSpPr/>
          <p:nvPr/>
        </p:nvSpPr>
        <p:spPr>
          <a:xfrm>
            <a:off x="5897880" y="1417320"/>
            <a:ext cx="2880360" cy="36576"/>
          </a:xfrm>
          <a:prstGeom prst="rect">
            <a:avLst/>
          </a:prstGeom>
          <a:solidFill>
            <a:srgbClr val="00D4FF"/>
          </a:solidFill>
          <a:ln w="12700" cap="flat" cmpd="sng">
            <a:solidFill>
              <a:srgbClr val="00D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7" name="Google Shape;207;p10"/>
          <p:cNvSpPr/>
          <p:nvPr/>
        </p:nvSpPr>
        <p:spPr>
          <a:xfrm>
            <a:off x="6080760" y="1572768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Top Finding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6080760" y="1851660"/>
            <a:ext cx="251460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MI_dir_L0.1_weight (packet count) alone accounts for 32.1% of RF decision power. Botnets generate enormous packet floods — raw volume is the #1 signal.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5897880" y="3115945"/>
            <a:ext cx="2880360" cy="1784985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0" name="Google Shape;210;p10"/>
          <p:cNvSpPr/>
          <p:nvPr/>
        </p:nvSpPr>
        <p:spPr>
          <a:xfrm>
            <a:off x="5897880" y="3129788"/>
            <a:ext cx="2880360" cy="36576"/>
          </a:xfrm>
          <a:prstGeom prst="rect">
            <a:avLst/>
          </a:prstGeom>
          <a:solidFill>
            <a:srgbClr val="00E596"/>
          </a:solidFill>
          <a:ln w="12700" cap="flat" cmpd="sng">
            <a:solidFill>
              <a:srgbClr val="00E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1" name="Google Shape;211;p10"/>
          <p:cNvSpPr/>
          <p:nvPr/>
        </p:nvSpPr>
        <p:spPr>
          <a:xfrm>
            <a:off x="6080760" y="3259836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596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E596"/>
                </a:solidFill>
                <a:latin typeface="Calibri"/>
                <a:ea typeface="Calibri"/>
                <a:cs typeface="Calibri"/>
                <a:sym typeface="Calibri"/>
              </a:rPr>
              <a:t>Top 10 vs All 19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6080760" y="3748405"/>
            <a:ext cx="2559685" cy="1006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Top 10 features:  </a:t>
            </a:r>
            <a:r>
              <a:rPr lang="en-US" sz="1100" b="1" i="0" u="none" strike="noStrike" cap="none">
                <a:solidFill>
                  <a:srgbClr val="00E596"/>
                </a:solidFill>
                <a:latin typeface="Calibri"/>
                <a:ea typeface="Calibri"/>
                <a:cs typeface="Calibri"/>
                <a:sym typeface="Calibri"/>
              </a:rPr>
              <a:t>0.9995</a:t>
            </a: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F1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All 19 features:  </a:t>
            </a:r>
            <a:r>
              <a:rPr lang="en-US" sz="1100" b="1">
                <a:solidFill>
                  <a:srgbClr val="00E596"/>
                </a:solidFill>
                <a:latin typeface="Calibri"/>
                <a:ea typeface="Calibri"/>
                <a:cs typeface="Calibri"/>
                <a:sym typeface="Calibri"/>
              </a:rPr>
              <a:t>0.9993  </a:t>
            </a: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F1</a:t>
            </a:r>
            <a:b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Exploratory result: a reduced top-10 feature set retained comparable performance, suggesting some extra features may be redundant.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08 — PER-DEVICE EVALUATION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502920" y="554990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3200"/>
              <a:buFont typeface="Calibri"/>
              <a:buNone/>
            </a:pPr>
            <a:r>
              <a:rPr lang="en-US" sz="24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How Consistent Is Performance Across the 9 Devices?</a:t>
            </a:r>
            <a:endParaRPr lang="en-US" sz="2400" b="1" i="0" u="none" strike="noStrike" cap="none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0" name="Google Shape;220;p11"/>
          <p:cNvGraphicFramePr/>
          <p:nvPr/>
        </p:nvGraphicFramePr>
        <p:xfrm>
          <a:off x="365760" y="1131570"/>
          <a:ext cx="8412500" cy="3383250"/>
        </p:xfrm>
        <a:graphic>
          <a:graphicData uri="http://schemas.openxmlformats.org/drawingml/2006/table">
            <a:tbl>
              <a:tblPr>
                <a:noFill/>
                <a:tableStyleId>{EA8ED157-B24D-4143-8661-92E45FDAB6E2}</a:tableStyleId>
              </a:tblPr>
              <a:tblGrid>
                <a:gridCol w="3657600"/>
                <a:gridCol w="1463050"/>
                <a:gridCol w="1463050"/>
                <a:gridCol w="1828800"/>
              </a:tblGrid>
              <a:tr h="338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Device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6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F1-Attack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6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F1-Normal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6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Samples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625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Ecobee Thermostat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E59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00E5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E59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E5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47,231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Danmini Doorbell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E59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00E5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E59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E5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57,975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Ennio Doorbell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E59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00E5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E59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E5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19,908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Provision PT-737E Camera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E59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00E5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E59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E5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46,740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Provision PT-838 Camera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E59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00E5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E59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E5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47,743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Samsung SNH-1011-N Webcam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E59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00E5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E59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E5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21,146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SimpleHome XCS7-1003 Camera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E59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00E5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E59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E5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48,199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SimpleHome XCS7-1002 Camera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9F4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9F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0.9999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E59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00E5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48,775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Philips B120N10 Baby Monitor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9F4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9F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0.9999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9F4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FF9F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strike="noStrike" cap="non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62,282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E2D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1E2E"/>
                    </a:solidFill>
                  </a:tcPr>
                </a:tc>
              </a:tr>
            </a:tbl>
          </a:graphicData>
        </a:graphic>
      </p:graphicFrame>
      <p:sp>
        <p:nvSpPr>
          <p:cNvPr id="221" name="Google Shape;221;p11"/>
          <p:cNvSpPr/>
          <p:nvPr/>
        </p:nvSpPr>
        <p:spPr>
          <a:xfrm>
            <a:off x="365760" y="4919472"/>
            <a:ext cx="8412480" cy="0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2" name="Google Shape;222;p11"/>
          <p:cNvSpPr/>
          <p:nvPr/>
        </p:nvSpPr>
        <p:spPr>
          <a:xfrm>
            <a:off x="365760" y="4919472"/>
            <a:ext cx="8412480" cy="36576"/>
          </a:xfrm>
          <a:prstGeom prst="rect">
            <a:avLst/>
          </a:prstGeom>
          <a:solidFill>
            <a:srgbClr val="00E596"/>
          </a:solidFill>
          <a:ln w="12700" cap="flat" cmpd="sng">
            <a:solidFill>
              <a:srgbClr val="00E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3" name="Google Shape;223;p11"/>
          <p:cNvSpPr/>
          <p:nvPr/>
        </p:nvSpPr>
        <p:spPr>
          <a:xfrm>
            <a:off x="502920" y="4718050"/>
            <a:ext cx="8183880" cy="2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50"/>
              <a:buFont typeface="Calibri"/>
              <a:buNone/>
            </a:pP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✅  7 of 9 devices achieve perfect F1 = 1.000. A single global model generalises across all IoT device types — no per-device retraining needed.</a:t>
            </a:r>
            <a:endParaRPr lang="en-US" sz="1000" b="0" i="0" u="none" strike="noStrike" cap="none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09 — GOAL ASSESSMENT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502920" y="502920"/>
            <a:ext cx="8138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Are Our Research Goals Met?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365760" y="1417320"/>
            <a:ext cx="2724912" cy="1572768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2" name="Google Shape;232;p12"/>
          <p:cNvSpPr/>
          <p:nvPr/>
        </p:nvSpPr>
        <p:spPr>
          <a:xfrm>
            <a:off x="365760" y="1417320"/>
            <a:ext cx="2724912" cy="36576"/>
          </a:xfrm>
          <a:prstGeom prst="rect">
            <a:avLst/>
          </a:prstGeom>
          <a:solidFill>
            <a:srgbClr val="00E596"/>
          </a:solidFill>
          <a:ln w="12700" cap="flat" cmpd="sng">
            <a:solidFill>
              <a:srgbClr val="00E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3" name="Google Shape;233;p12"/>
          <p:cNvSpPr/>
          <p:nvPr/>
        </p:nvSpPr>
        <p:spPr>
          <a:xfrm>
            <a:off x="502920" y="1581912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59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E596"/>
                </a:solidFill>
                <a:latin typeface="Calibri"/>
                <a:ea typeface="Calibri"/>
                <a:cs typeface="Calibri"/>
                <a:sym typeface="Calibri"/>
              </a:rPr>
              <a:t>Supported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502920" y="1874520"/>
            <a:ext cx="2450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Binary Detection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502920" y="2194560"/>
            <a:ext cx="245059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All 4 models ≥ F1-Macro 0.999. LogReg achieves this at 0.58 μs — real-time capable.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3218688" y="1417320"/>
            <a:ext cx="2724912" cy="1572768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7" name="Google Shape;237;p12"/>
          <p:cNvSpPr/>
          <p:nvPr/>
        </p:nvSpPr>
        <p:spPr>
          <a:xfrm>
            <a:off x="3218688" y="1417320"/>
            <a:ext cx="2724912" cy="36576"/>
          </a:xfrm>
          <a:prstGeom prst="rect">
            <a:avLst/>
          </a:prstGeom>
          <a:solidFill>
            <a:srgbClr val="00E596"/>
          </a:solidFill>
          <a:ln w="12700" cap="flat" cmpd="sng">
            <a:solidFill>
              <a:srgbClr val="00E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8" name="Google Shape;238;p12"/>
          <p:cNvSpPr/>
          <p:nvPr/>
        </p:nvSpPr>
        <p:spPr>
          <a:xfrm>
            <a:off x="3355848" y="1581912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59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E596"/>
                </a:solidFill>
                <a:latin typeface="Calibri"/>
                <a:ea typeface="Calibri"/>
                <a:cs typeface="Calibri"/>
                <a:sym typeface="Calibri"/>
              </a:rPr>
              <a:t>Supported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3355848" y="1874520"/>
            <a:ext cx="2450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Attack Family ID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3355848" y="2194560"/>
            <a:ext cx="245059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Normal / Mirai / Gafgyt are near-perfectly separated on the sampled benchmark split; interpret this as strong in-distribution performance.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6071616" y="1417320"/>
            <a:ext cx="2724912" cy="1572768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2" name="Google Shape;242;p12"/>
          <p:cNvSpPr/>
          <p:nvPr/>
        </p:nvSpPr>
        <p:spPr>
          <a:xfrm>
            <a:off x="6071616" y="1417320"/>
            <a:ext cx="2724912" cy="36576"/>
          </a:xfrm>
          <a:prstGeom prst="rect">
            <a:avLst/>
          </a:prstGeom>
          <a:solidFill>
            <a:srgbClr val="00E596"/>
          </a:solidFill>
          <a:ln w="12700" cap="flat" cmpd="sng">
            <a:solidFill>
              <a:srgbClr val="00E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3" name="Google Shape;243;p12"/>
          <p:cNvSpPr/>
          <p:nvPr/>
        </p:nvSpPr>
        <p:spPr>
          <a:xfrm>
            <a:off x="6208776" y="1581912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59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E596"/>
                </a:solidFill>
                <a:latin typeface="Calibri"/>
                <a:ea typeface="Calibri"/>
                <a:cs typeface="Calibri"/>
                <a:sym typeface="Calibri"/>
              </a:rPr>
              <a:t>Supported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6208776" y="1874520"/>
            <a:ext cx="2450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Subtype Classification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6208776" y="2194560"/>
            <a:ext cx="245059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9-class subtype performance is near-perfect on the sampled benchmark split, with TCP showing the main small deviation.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365760" y="3154680"/>
            <a:ext cx="2724912" cy="1572768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7" name="Google Shape;247;p12"/>
          <p:cNvSpPr/>
          <p:nvPr/>
        </p:nvSpPr>
        <p:spPr>
          <a:xfrm>
            <a:off x="365760" y="3154680"/>
            <a:ext cx="2724912" cy="36576"/>
          </a:xfrm>
          <a:prstGeom prst="rect">
            <a:avLst/>
          </a:prstGeom>
          <a:solidFill>
            <a:srgbClr val="00E596"/>
          </a:solidFill>
          <a:ln w="12700" cap="flat" cmpd="sng">
            <a:solidFill>
              <a:srgbClr val="00E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8" name="Google Shape;248;p12"/>
          <p:cNvSpPr/>
          <p:nvPr/>
        </p:nvSpPr>
        <p:spPr>
          <a:xfrm>
            <a:off x="502920" y="3319272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59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E596"/>
                </a:solidFill>
                <a:latin typeface="Calibri"/>
                <a:ea typeface="Calibri"/>
                <a:cs typeface="Calibri"/>
                <a:sym typeface="Calibri"/>
              </a:rPr>
              <a:t>Supported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502920" y="3611880"/>
            <a:ext cx="2450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Feature Importance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502920" y="3931920"/>
            <a:ext cx="245059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Packet count (MI_dir weight) = 32% of importance. An exploratory top-10 feature subset retained comparable performance.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3218688" y="3154680"/>
            <a:ext cx="2724912" cy="1572768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2" name="Google Shape;252;p12"/>
          <p:cNvSpPr/>
          <p:nvPr/>
        </p:nvSpPr>
        <p:spPr>
          <a:xfrm>
            <a:off x="3218688" y="3154680"/>
            <a:ext cx="2724912" cy="36576"/>
          </a:xfrm>
          <a:prstGeom prst="rect">
            <a:avLst/>
          </a:prstGeom>
          <a:solidFill>
            <a:srgbClr val="00E596"/>
          </a:solidFill>
          <a:ln w="12700" cap="flat" cmpd="sng">
            <a:solidFill>
              <a:srgbClr val="00E59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3" name="Google Shape;253;p12"/>
          <p:cNvSpPr/>
          <p:nvPr/>
        </p:nvSpPr>
        <p:spPr>
          <a:xfrm>
            <a:off x="3355848" y="3319272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E59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E596"/>
                </a:solidFill>
                <a:latin typeface="Calibri"/>
                <a:ea typeface="Calibri"/>
                <a:cs typeface="Calibri"/>
                <a:sym typeface="Calibri"/>
              </a:rPr>
              <a:t>Supported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3355848" y="3611880"/>
            <a:ext cx="2450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Device Generalization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3355848" y="3931920"/>
            <a:ext cx="245059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Device-wise results are strong within the sampled benchmark, but this section is exploratory rather than a strict unseen-device test.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6071616" y="3154680"/>
            <a:ext cx="2724912" cy="1572768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7" name="Google Shape;257;p12"/>
          <p:cNvSpPr/>
          <p:nvPr/>
        </p:nvSpPr>
        <p:spPr>
          <a:xfrm>
            <a:off x="6071616" y="3154680"/>
            <a:ext cx="2724912" cy="36576"/>
          </a:xfrm>
          <a:prstGeom prst="rect">
            <a:avLst/>
          </a:prstGeom>
          <a:solidFill>
            <a:srgbClr val="FF9F43"/>
          </a:solidFill>
          <a:ln w="12700" cap="flat" cmpd="sng">
            <a:solidFill>
              <a:srgbClr val="FF9F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8" name="Google Shape;258;p12"/>
          <p:cNvSpPr/>
          <p:nvPr/>
        </p:nvSpPr>
        <p:spPr>
          <a:xfrm>
            <a:off x="6208776" y="3319272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F43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Caveated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6208776" y="3611880"/>
            <a:ext cx="2450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Real-World Deployment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6208776" y="3931920"/>
            <a:ext cx="245059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Latency goals met. But no temporal split — train/test from same capture session.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"/>
          <p:cNvSpPr/>
          <p:nvPr/>
        </p:nvSpPr>
        <p:spPr>
          <a:xfrm>
            <a:off x="502920" y="25603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10 — CONCLUSION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502920" y="502920"/>
            <a:ext cx="8138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Summary &amp; Next Steps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365760" y="1325880"/>
            <a:ext cx="4925060" cy="3265170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0" name="Google Shape;270;p13"/>
          <p:cNvSpPr/>
          <p:nvPr/>
        </p:nvSpPr>
        <p:spPr>
          <a:xfrm>
            <a:off x="365760" y="1325880"/>
            <a:ext cx="4926330" cy="76200"/>
          </a:xfrm>
          <a:prstGeom prst="rect">
            <a:avLst/>
          </a:prstGeom>
          <a:solidFill>
            <a:srgbClr val="00D4FF"/>
          </a:solidFill>
          <a:ln w="12700" cap="flat" cmpd="sng">
            <a:solidFill>
              <a:srgbClr val="00D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1" name="Google Shape;271;p13"/>
          <p:cNvSpPr/>
          <p:nvPr/>
        </p:nvSpPr>
        <p:spPr>
          <a:xfrm>
            <a:off x="548640" y="1682623"/>
            <a:ext cx="4663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Calibri"/>
              <a:buNone/>
            </a:pPr>
            <a:r>
              <a:rPr lang="en-US" b="1" i="0" u="none" strike="noStrike" cap="non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Key Results</a:t>
            </a:r>
            <a:endParaRPr lang="en-US" b="1" i="0" u="none" strike="noStrike" cap="none">
              <a:solidFill>
                <a:srgbClr val="00D4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611505" y="2211705"/>
            <a:ext cx="4516120" cy="2092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 eaLnBrk="1" fontAlgn="auto" latinLnBrk="0" hangingPunct="1">
              <a:spcBef>
                <a:spcPts val="0"/>
              </a:spcBef>
              <a:spcAft>
                <a:spcPts val="600"/>
              </a:spcAft>
              <a:buClr>
                <a:srgbClr val="E2E8F0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All 4 models achieve F1-Macro ≥ 0.999 on binary task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 eaLnBrk="1" fontAlgn="auto" latinLnBrk="0" hangingPunct="1">
              <a:spcBef>
                <a:spcPts val="0"/>
              </a:spcBef>
              <a:spcAft>
                <a:spcPts val="600"/>
              </a:spcAft>
              <a:buClr>
                <a:srgbClr val="E2E8F0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Botnet families (Mirai / Gafgyt) are near-perfectly separable on this benchmark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 eaLnBrk="1" fontAlgn="auto" latinLnBrk="0" hangingPunct="1">
              <a:spcBef>
                <a:spcPts val="0"/>
              </a:spcBef>
              <a:spcAft>
                <a:spcPts val="600"/>
              </a:spcAft>
              <a:buClr>
                <a:srgbClr val="E2E8F0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9-subtype classification near-perfect (~100% accuracy)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 eaLnBrk="1" fontAlgn="auto" latinLnBrk="0" hangingPunct="1">
              <a:spcBef>
                <a:spcPts val="0"/>
              </a:spcBef>
              <a:spcAft>
                <a:spcPts val="600"/>
              </a:spcAft>
              <a:buClr>
                <a:srgbClr val="E2E8F0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 reduced top-10 feature set retained comparable performance in an exploratory test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 eaLnBrk="1" fontAlgn="auto" latinLnBrk="0" hangingPunct="1">
              <a:spcBef>
                <a:spcPts val="0"/>
              </a:spcBef>
              <a:spcAft>
                <a:spcPts val="600"/>
              </a:spcAft>
              <a:buClr>
                <a:srgbClr val="E2E8F0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 single global model shows strong device-wise consistency within the sampled benchmark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 eaLnBrk="1" fontAlgn="auto" latinLnBrk="0" hangingPunct="1">
              <a:spcBef>
                <a:spcPts val="0"/>
              </a:spcBef>
              <a:spcAft>
                <a:spcPts val="600"/>
              </a:spcAft>
              <a:buClr>
                <a:srgbClr val="E2E8F0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MLP recommended: best accuracy-latency balance (5.66 μs)</a:t>
            </a:r>
            <a:endParaRPr lang="en-US" sz="1200" b="0" i="0" u="none" strike="noStrike" cap="none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5499100" y="1325880"/>
            <a:ext cx="3279140" cy="1645920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4" name="Google Shape;274;p13"/>
          <p:cNvSpPr/>
          <p:nvPr/>
        </p:nvSpPr>
        <p:spPr>
          <a:xfrm>
            <a:off x="5499100" y="1325880"/>
            <a:ext cx="3279140" cy="76200"/>
          </a:xfrm>
          <a:prstGeom prst="rect">
            <a:avLst/>
          </a:prstGeom>
          <a:solidFill>
            <a:srgbClr val="FF9F43"/>
          </a:solidFill>
          <a:ln w="12700" cap="flat" cmpd="sng">
            <a:solidFill>
              <a:srgbClr val="FF9F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5" name="Google Shape;275;p13"/>
          <p:cNvSpPr/>
          <p:nvPr/>
        </p:nvSpPr>
        <p:spPr>
          <a:xfrm>
            <a:off x="5760720" y="1563878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F43"/>
              </a:buClr>
              <a:buSzPts val="1300"/>
              <a:buFont typeface="Calibri"/>
              <a:buNone/>
            </a:pPr>
            <a:r>
              <a:rPr lang="en-US" b="1" i="0" u="none" strike="noStrike" cap="non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lang="en-US" b="1" i="0" u="none" strike="noStrike" cap="none">
              <a:solidFill>
                <a:srgbClr val="FF9F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5651500" y="1876425"/>
            <a:ext cx="31267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 eaLnBrk="1" fontAlgn="auto" latinLnBrk="0" hangingPunct="1">
              <a:spcBef>
                <a:spcPts val="0"/>
              </a:spcBef>
              <a:spcAft>
                <a:spcPts val="600"/>
              </a:spcAft>
              <a:buClr>
                <a:srgbClr val="E2E8F0"/>
              </a:buClr>
              <a:buSzPts val="115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No temporal split (in-distribution benchmark)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 eaLnBrk="1" fontAlgn="auto" latinLnBrk="0" hangingPunct="1">
              <a:spcBef>
                <a:spcPts val="0"/>
              </a:spcBef>
              <a:spcAft>
                <a:spcPts val="600"/>
              </a:spcAft>
              <a:buClr>
                <a:srgbClr val="E2E8F0"/>
              </a:buClr>
              <a:buSzPts val="115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Dataset v2 has ~8.8% duplicate rows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 eaLnBrk="1" fontAlgn="auto" latinLnBrk="0" hangingPunct="1">
              <a:spcBef>
                <a:spcPts val="0"/>
              </a:spcBef>
              <a:spcAft>
                <a:spcPts val="600"/>
              </a:spcAft>
              <a:buClr>
                <a:srgbClr val="E2E8F0"/>
              </a:buClr>
              <a:buSzPts val="115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9 devices from one lab environment</a:t>
            </a:r>
            <a:endParaRPr lang="en-US" sz="1000" b="0" i="0" u="none" strike="noStrike" cap="none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5499100" y="3127375"/>
            <a:ext cx="3279140" cy="1718945"/>
          </a:xfrm>
          <a:prstGeom prst="rect">
            <a:avLst/>
          </a:prstGeom>
          <a:solidFill>
            <a:srgbClr val="151E2E"/>
          </a:solidFill>
          <a:ln w="9525" cap="flat" cmpd="sng">
            <a:solidFill>
              <a:srgbClr val="1E2D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8" name="Google Shape;278;p13"/>
          <p:cNvSpPr/>
          <p:nvPr/>
        </p:nvSpPr>
        <p:spPr>
          <a:xfrm>
            <a:off x="5499100" y="3127375"/>
            <a:ext cx="3279140" cy="76200"/>
          </a:xfrm>
          <a:prstGeom prst="rect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9" name="Google Shape;279;p13"/>
          <p:cNvSpPr/>
          <p:nvPr/>
        </p:nvSpPr>
        <p:spPr>
          <a:xfrm>
            <a:off x="5760720" y="3344291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300"/>
              <a:buFont typeface="Calibri"/>
              <a:buNone/>
            </a:pPr>
            <a:r>
              <a:rPr lang="en-US" b="1" i="0" u="none" strike="noStrike" cap="non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lang="en-US" b="1" i="0" u="none" strike="noStrike" cap="none">
              <a:solidFill>
                <a:srgbClr val="A78BF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5652135" y="3724275"/>
            <a:ext cx="3016885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 eaLnBrk="1" fontAlgn="auto" latinLnBrk="0" hangingPunct="1">
              <a:spcAft>
                <a:spcPts val="600"/>
              </a:spcAft>
              <a:buClr>
                <a:srgbClr val="E2E8F0"/>
              </a:buClr>
              <a:buSzPts val="115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Temporal train/test split for real-world estimate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 eaLnBrk="1" fontAlgn="auto" latinLnBrk="0" hangingPunct="1">
              <a:spcAft>
                <a:spcPts val="600"/>
              </a:spcAft>
              <a:buClr>
                <a:srgbClr val="E2E8F0"/>
              </a:buClr>
              <a:buSzPts val="115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Test on unseen devices / new attack variants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 eaLnBrk="1" fontAlgn="auto" latinLnBrk="0" hangingPunct="1">
              <a:spcAft>
                <a:spcPts val="600"/>
              </a:spcAft>
              <a:buClr>
                <a:srgbClr val="E2E8F0"/>
              </a:buClr>
              <a:buSzPts val="115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SHAP values for interpretability</a:t>
            </a:r>
            <a:endParaRPr lang="en-US" sz="1000" b="0" i="0" u="none" strike="noStrike" cap="none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6.4,&quot;left&quot;:28.8,&quot;top&quot;:111.6,&quot;width&quot;:662.4}"/>
</p:tagLst>
</file>

<file path=ppt/tags/tag2.xml><?xml version="1.0" encoding="utf-8"?>
<p:tagLst xmlns:p="http://schemas.openxmlformats.org/presentationml/2006/main">
  <p:tag name="KSO_WM_DIAGRAM_VIRTUALLY_FRAME" val="{&quot;height&quot;:266.4,&quot;left&quot;:28.8,&quot;top&quot;:111.6,&quot;width&quot;:662.4}"/>
</p:tagLst>
</file>

<file path=ppt/tags/tag3.xml><?xml version="1.0" encoding="utf-8"?>
<p:tagLst xmlns:p="http://schemas.openxmlformats.org/presentationml/2006/main">
  <p:tag name="KSO_WM_DIAGRAM_VIRTUALLY_FRAME" val="{&quot;height&quot;:266.4,&quot;left&quot;:28.8,&quot;top&quot;:111.6,&quot;width&quot;:662.4}"/>
</p:tagLst>
</file>

<file path=ppt/tags/tag4.xml><?xml version="1.0" encoding="utf-8"?>
<p:tagLst xmlns:p="http://schemas.openxmlformats.org/presentationml/2006/main">
  <p:tag name="KSO_WM_DIAGRAM_VIRTUALLY_FRAME" val="{&quot;height&quot;:266.4,&quot;left&quot;:28.8,&quot;top&quot;:111.6,&quot;width&quot;:662.4}"/>
</p:tagLst>
</file>

<file path=ppt/tags/tag5.xml><?xml version="1.0" encoding="utf-8"?>
<p:tagLst xmlns:p="http://schemas.openxmlformats.org/presentationml/2006/main">
  <p:tag name="KSO_WM_DIAGRAM_VIRTUALLY_FRAME" val="{&quot;height&quot;:266.4,&quot;left&quot;:28.8,&quot;top&quot;:111.6,&quot;width&quot;:662.4}"/>
</p:tagLst>
</file>

<file path=ppt/tags/tag6.xml><?xml version="1.0" encoding="utf-8"?>
<p:tagLst xmlns:p="http://schemas.openxmlformats.org/presentationml/2006/main">
  <p:tag name="KSO_WM_DIAGRAM_VIRTUALLY_FRAME" val="{&quot;height&quot;:266.4,&quot;left&quot;:28.8,&quot;top&quot;:111.6,&quot;width&quot;:662.4}"/>
</p:tagLst>
</file>

<file path=ppt/tags/tag7.xml><?xml version="1.0" encoding="utf-8"?>
<p:tagLst xmlns:p="http://schemas.openxmlformats.org/presentationml/2006/main">
  <p:tag name="KSO_WM_DIAGRAM_VIRTUALLY_FRAME" val="{&quot;height&quot;:266.4,&quot;left&quot;:28.8,&quot;top&quot;:111.6,&quot;width&quot;:662.4}"/>
</p:tagLst>
</file>

<file path=ppt/tags/tag8.xml><?xml version="1.0" encoding="utf-8"?>
<p:tagLst xmlns:p="http://schemas.openxmlformats.org/presentationml/2006/main">
  <p:tag name="KSO_WM_DIAGRAM_VIRTUALLY_FRAME" val="{&quot;height&quot;:266.4,&quot;left&quot;:28.8,&quot;top&quot;:111.6,&quot;width&quot;:662.4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5592</Words>
  <Application>WPS 演示</Application>
  <PresentationFormat/>
  <Paragraphs>407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宋体</vt:lpstr>
      <vt:lpstr>Wingdings</vt:lpstr>
      <vt:lpstr>Arial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Apple Color Emoji</vt:lpstr>
      <vt:lpstr>儷宋 Pro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ヾ 凉辰梦瑾๑空人心づ</cp:lastModifiedBy>
  <cp:revision>22</cp:revision>
  <dcterms:created xsi:type="dcterms:W3CDTF">2026-04-19T21:30:52Z</dcterms:created>
  <dcterms:modified xsi:type="dcterms:W3CDTF">2026-04-19T21:30:52Z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91DD6066DAB9D5E1E745E569C87ACD94_42</vt:lpwstr>
  </property>
</Properties>
</file>